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9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94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FBE0C5-3078-1D49-9EC4-5DD09DC73B41}" name="Matteo Boi" initials="MB" userId="8eaa1b1e858eaf7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490AA6-74E3-4F4F-B030-D4EBB6346BF6}" v="9" dt="2026-09-30T08:56:24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82" autoAdjust="0"/>
    <p:restoredTop sz="70027" autoAdjust="0"/>
  </p:normalViewPr>
  <p:slideViewPr>
    <p:cSldViewPr snapToGrid="0">
      <p:cViewPr varScale="1">
        <p:scale>
          <a:sx n="71" d="100"/>
          <a:sy n="71" d="100"/>
        </p:scale>
        <p:origin x="1362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i, Matteo (DSL)" userId="82f0ed66-5171-4b7b-a4b0-05ee01bcdb77" providerId="ADAL" clId="{84FD0EBE-142F-49EE-BACE-6F78937E4B40}"/>
    <pc:docChg chg="custSel addSld delSld modSld">
      <pc:chgData name="Boi, Matteo (DSL)" userId="82f0ed66-5171-4b7b-a4b0-05ee01bcdb77" providerId="ADAL" clId="{84FD0EBE-142F-49EE-BACE-6F78937E4B40}" dt="2026-09-30T09:49:36.977" v="257" actId="20577"/>
      <pc:docMkLst>
        <pc:docMk/>
      </pc:docMkLst>
      <pc:sldChg chg="modSp mod modNotesTx">
        <pc:chgData name="Boi, Matteo (DSL)" userId="82f0ed66-5171-4b7b-a4b0-05ee01bcdb77" providerId="ADAL" clId="{84FD0EBE-142F-49EE-BACE-6F78937E4B40}" dt="2026-09-30T09:47:57.616" v="222" actId="20577"/>
        <pc:sldMkLst>
          <pc:docMk/>
          <pc:sldMk cId="4113909583" sldId="256"/>
        </pc:sldMkLst>
        <pc:spChg chg="mod">
          <ac:chgData name="Boi, Matteo (DSL)" userId="82f0ed66-5171-4b7b-a4b0-05ee01bcdb77" providerId="ADAL" clId="{84FD0EBE-142F-49EE-BACE-6F78937E4B40}" dt="2026-09-29T13:55:11.235" v="43" actId="20577"/>
          <ac:spMkLst>
            <pc:docMk/>
            <pc:sldMk cId="4113909583" sldId="256"/>
            <ac:spMk id="3" creationId="{5EB2C6D3-69F7-54A5-BF42-0BA5418A385E}"/>
          </ac:spMkLst>
        </pc:spChg>
        <pc:spChg chg="mod">
          <ac:chgData name="Boi, Matteo (DSL)" userId="82f0ed66-5171-4b7b-a4b0-05ee01bcdb77" providerId="ADAL" clId="{84FD0EBE-142F-49EE-BACE-6F78937E4B40}" dt="2026-09-29T13:55:18.114" v="51" actId="20577"/>
          <ac:spMkLst>
            <pc:docMk/>
            <pc:sldMk cId="4113909583" sldId="256"/>
            <ac:spMk id="12" creationId="{0CA7931A-6A53-D745-EECD-468F6EEA8395}"/>
          </ac:spMkLst>
        </pc:spChg>
        <pc:spChg chg="mod">
          <ac:chgData name="Boi, Matteo (DSL)" userId="82f0ed66-5171-4b7b-a4b0-05ee01bcdb77" providerId="ADAL" clId="{84FD0EBE-142F-49EE-BACE-6F78937E4B40}" dt="2026-09-29T13:54:57.235" v="27" actId="20577"/>
          <ac:spMkLst>
            <pc:docMk/>
            <pc:sldMk cId="4113909583" sldId="256"/>
            <ac:spMk id="15" creationId="{316FA156-4370-7E8F-0DB7-61689FD7F4F7}"/>
          </ac:spMkLst>
        </pc:spChg>
      </pc:sldChg>
      <pc:sldChg chg="modAnim modNotesTx">
        <pc:chgData name="Boi, Matteo (DSL)" userId="82f0ed66-5171-4b7b-a4b0-05ee01bcdb77" providerId="ADAL" clId="{84FD0EBE-142F-49EE-BACE-6F78937E4B40}" dt="2026-09-30T09:48:01.671" v="223" actId="20577"/>
        <pc:sldMkLst>
          <pc:docMk/>
          <pc:sldMk cId="0" sldId="257"/>
        </pc:sldMkLst>
      </pc:sldChg>
      <pc:sldChg chg="addSp delSp modSp mod modNotesTx">
        <pc:chgData name="Boi, Matteo (DSL)" userId="82f0ed66-5171-4b7b-a4b0-05ee01bcdb77" providerId="ADAL" clId="{84FD0EBE-142F-49EE-BACE-6F78937E4B40}" dt="2026-09-30T09:48:08.897" v="225" actId="20577"/>
        <pc:sldMkLst>
          <pc:docMk/>
          <pc:sldMk cId="0" sldId="258"/>
        </pc:sldMkLst>
        <pc:spChg chg="mod">
          <ac:chgData name="Boi, Matteo (DSL)" userId="82f0ed66-5171-4b7b-a4b0-05ee01bcdb77" providerId="ADAL" clId="{84FD0EBE-142F-49EE-BACE-6F78937E4B40}" dt="2026-09-30T09:08:27.210" v="148" actId="10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08:27.210" v="148" actId="10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08:27.210" v="148" actId="1036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Boi, Matteo (DSL)" userId="82f0ed66-5171-4b7b-a4b0-05ee01bcdb77" providerId="ADAL" clId="{84FD0EBE-142F-49EE-BACE-6F78937E4B40}" dt="2026-09-30T09:08:27.210" v="148" actId="1036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Boi, Matteo (DSL)" userId="82f0ed66-5171-4b7b-a4b0-05ee01bcdb77" providerId="ADAL" clId="{84FD0EBE-142F-49EE-BACE-6F78937E4B40}" dt="2026-09-30T09:08:27.210" v="148" actId="1036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Boi, Matteo (DSL)" userId="82f0ed66-5171-4b7b-a4b0-05ee01bcdb77" providerId="ADAL" clId="{84FD0EBE-142F-49EE-BACE-6F78937E4B40}" dt="2026-09-30T09:08:27.210" v="148" actId="1036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Boi, Matteo (DSL)" userId="82f0ed66-5171-4b7b-a4b0-05ee01bcdb77" providerId="ADAL" clId="{84FD0EBE-142F-49EE-BACE-6F78937E4B40}" dt="2026-09-30T09:08:27.210" v="148" actId="1036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Boi, Matteo (DSL)" userId="82f0ed66-5171-4b7b-a4b0-05ee01bcdb77" providerId="ADAL" clId="{84FD0EBE-142F-49EE-BACE-6F78937E4B40}" dt="2026-09-30T09:08:27.210" v="148" actId="1036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Boi, Matteo (DSL)" userId="82f0ed66-5171-4b7b-a4b0-05ee01bcdb77" providerId="ADAL" clId="{84FD0EBE-142F-49EE-BACE-6F78937E4B40}" dt="2026-09-30T09:08:27.210" v="148" actId="1036"/>
          <ac:spMkLst>
            <pc:docMk/>
            <pc:sldMk cId="0" sldId="258"/>
            <ac:spMk id="17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30T08:57:28.528" v="118" actId="478"/>
          <ac:spMkLst>
            <pc:docMk/>
            <pc:sldMk cId="0" sldId="258"/>
            <ac:spMk id="18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08:16.184" v="131" actId="1036"/>
          <ac:spMkLst>
            <pc:docMk/>
            <pc:sldMk cId="0" sldId="258"/>
            <ac:spMk id="19" creationId="{00000000-0000-0000-0000-000000000000}"/>
          </ac:spMkLst>
        </pc:spChg>
        <pc:spChg chg="add del mod">
          <ac:chgData name="Boi, Matteo (DSL)" userId="82f0ed66-5171-4b7b-a4b0-05ee01bcdb77" providerId="ADAL" clId="{84FD0EBE-142F-49EE-BACE-6F78937E4B40}" dt="2026-09-30T08:47:33.323" v="73" actId="21"/>
          <ac:spMkLst>
            <pc:docMk/>
            <pc:sldMk cId="0" sldId="258"/>
            <ac:spMk id="20" creationId="{0CA3F335-C748-D1C7-A028-D7AD9915D20F}"/>
          </ac:spMkLst>
        </pc:spChg>
        <pc:spChg chg="mod">
          <ac:chgData name="Boi, Matteo (DSL)" userId="82f0ed66-5171-4b7b-a4b0-05ee01bcdb77" providerId="ADAL" clId="{84FD0EBE-142F-49EE-BACE-6F78937E4B40}" dt="2026-09-30T09:08:16.184" v="131" actId="1036"/>
          <ac:spMkLst>
            <pc:docMk/>
            <pc:sldMk cId="0" sldId="258"/>
            <ac:spMk id="21" creationId="{00000000-0000-0000-0000-000000000000}"/>
          </ac:spMkLst>
        </pc:spChg>
        <pc:spChg chg="add">
          <ac:chgData name="Boi, Matteo (DSL)" userId="82f0ed66-5171-4b7b-a4b0-05ee01bcdb77" providerId="ADAL" clId="{84FD0EBE-142F-49EE-BACE-6F78937E4B40}" dt="2026-09-30T08:47:34.866" v="75" actId="22"/>
          <ac:spMkLst>
            <pc:docMk/>
            <pc:sldMk cId="0" sldId="258"/>
            <ac:spMk id="22" creationId="{9825AF98-6AC9-88A7-4E85-8F664B1A2D44}"/>
          </ac:spMkLst>
        </pc:spChg>
        <pc:spChg chg="mod">
          <ac:chgData name="Boi, Matteo (DSL)" userId="82f0ed66-5171-4b7b-a4b0-05ee01bcdb77" providerId="ADAL" clId="{84FD0EBE-142F-49EE-BACE-6F78937E4B40}" dt="2026-09-30T09:08:16.184" v="131" actId="103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08:16.184" v="131" actId="103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08:16.184" v="131" actId="103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08:16.184" v="131" actId="1036"/>
          <ac:spMkLst>
            <pc:docMk/>
            <pc:sldMk cId="0" sldId="258"/>
            <ac:spMk id="28" creationId="{00000000-0000-0000-0000-000000000000}"/>
          </ac:spMkLst>
        </pc:spChg>
        <pc:picChg chg="del">
          <ac:chgData name="Boi, Matteo (DSL)" userId="82f0ed66-5171-4b7b-a4b0-05ee01bcdb77" providerId="ADAL" clId="{84FD0EBE-142F-49EE-BACE-6F78937E4B40}" dt="2026-09-30T08:47:34.687" v="74" actId="478"/>
          <ac:picMkLst>
            <pc:docMk/>
            <pc:sldMk cId="0" sldId="258"/>
            <ac:picMk id="7" creationId="{00000000-0000-0000-0000-000000000000}"/>
          </ac:picMkLst>
        </pc:picChg>
        <pc:picChg chg="del mod">
          <ac:chgData name="Boi, Matteo (DSL)" userId="82f0ed66-5171-4b7b-a4b0-05ee01bcdb77" providerId="ADAL" clId="{84FD0EBE-142F-49EE-BACE-6F78937E4B40}" dt="2026-09-30T09:08:27.210" v="148" actId="1036"/>
          <ac:picMkLst>
            <pc:docMk/>
            <pc:sldMk cId="0" sldId="258"/>
            <ac:picMk id="11" creationId="{00000000-0000-0000-0000-000000000000}"/>
          </ac:picMkLst>
        </pc:picChg>
        <pc:picChg chg="del">
          <ac:chgData name="Boi, Matteo (DSL)" userId="82f0ed66-5171-4b7b-a4b0-05ee01bcdb77" providerId="ADAL" clId="{84FD0EBE-142F-49EE-BACE-6F78937E4B40}" dt="2026-09-30T08:46:49.042" v="64" actId="478"/>
          <ac:picMkLst>
            <pc:docMk/>
            <pc:sldMk cId="0" sldId="258"/>
            <ac:picMk id="15" creationId="{00000000-0000-0000-0000-000000000000}"/>
          </ac:picMkLst>
        </pc:picChg>
        <pc:picChg chg="add mod">
          <ac:chgData name="Boi, Matteo (DSL)" userId="82f0ed66-5171-4b7b-a4b0-05ee01bcdb77" providerId="ADAL" clId="{84FD0EBE-142F-49EE-BACE-6F78937E4B40}" dt="2026-09-30T08:57:44.665" v="122" actId="14100"/>
          <ac:picMkLst>
            <pc:docMk/>
            <pc:sldMk cId="0" sldId="258"/>
            <ac:picMk id="24" creationId="{114A0AE3-D1CE-32CA-5355-29FD981E82AB}"/>
          </ac:picMkLst>
        </pc:picChg>
        <pc:cxnChg chg="ord">
          <ac:chgData name="Boi, Matteo (DSL)" userId="82f0ed66-5171-4b7b-a4b0-05ee01bcdb77" providerId="ADAL" clId="{84FD0EBE-142F-49EE-BACE-6F78937E4B40}" dt="2026-09-30T08:57:48.867" v="123" actId="166"/>
          <ac:cxnSpMkLst>
            <pc:docMk/>
            <pc:sldMk cId="0" sldId="258"/>
            <ac:cxnSpMk id="4" creationId="{00000000-0000-0000-0000-000000000000}"/>
          </ac:cxnSpMkLst>
        </pc:cxnChg>
      </pc:sldChg>
      <pc:sldChg chg="delSp modSp mod modNotesTx">
        <pc:chgData name="Boi, Matteo (DSL)" userId="82f0ed66-5171-4b7b-a4b0-05ee01bcdb77" providerId="ADAL" clId="{84FD0EBE-142F-49EE-BACE-6F78937E4B40}" dt="2026-09-30T09:48:12.283" v="226" actId="20577"/>
        <pc:sldMkLst>
          <pc:docMk/>
          <pc:sldMk cId="0" sldId="259"/>
        </pc:sldMkLst>
        <pc:spChg chg="mod">
          <ac:chgData name="Boi, Matteo (DSL)" userId="82f0ed66-5171-4b7b-a4b0-05ee01bcdb77" providerId="ADAL" clId="{84FD0EBE-142F-49EE-BACE-6F78937E4B40}" dt="2026-09-30T09:14:19.209" v="162" actId="20577"/>
          <ac:spMkLst>
            <pc:docMk/>
            <pc:sldMk cId="0" sldId="259"/>
            <ac:spMk id="8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29T13:55:55.377" v="52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29T13:55:55.377" v="52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29T13:55:55.377" v="52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29T13:55:55.377" v="52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29T13:55:55.377" v="52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29T13:55:55.377" v="52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29T13:55:55.377" v="52" actId="478"/>
          <ac:spMkLst>
            <pc:docMk/>
            <pc:sldMk cId="0" sldId="259"/>
            <ac:spMk id="28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14:01.066" v="150" actId="6549"/>
          <ac:spMkLst>
            <pc:docMk/>
            <pc:sldMk cId="0" sldId="259"/>
            <ac:spMk id="31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29T13:55:55.377" v="52" actId="478"/>
          <ac:spMkLst>
            <pc:docMk/>
            <pc:sldMk cId="0" sldId="259"/>
            <ac:spMk id="32" creationId="{00000000-0000-0000-0000-000000000000}"/>
          </ac:spMkLst>
        </pc:spChg>
        <pc:spChg chg="del">
          <ac:chgData name="Boi, Matteo (DSL)" userId="82f0ed66-5171-4b7b-a4b0-05ee01bcdb77" providerId="ADAL" clId="{84FD0EBE-142F-49EE-BACE-6F78937E4B40}" dt="2026-09-29T13:55:55.377" v="52" actId="478"/>
          <ac:spMkLst>
            <pc:docMk/>
            <pc:sldMk cId="0" sldId="259"/>
            <ac:spMk id="36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14:40.079" v="163" actId="1076"/>
          <ac:spMkLst>
            <pc:docMk/>
            <pc:sldMk cId="0" sldId="259"/>
            <ac:spMk id="37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15:14.456" v="185" actId="1036"/>
          <ac:spMkLst>
            <pc:docMk/>
            <pc:sldMk cId="0" sldId="259"/>
            <ac:spMk id="38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14:40.079" v="163" actId="107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14:40.079" v="163" actId="1076"/>
          <ac:spMkLst>
            <pc:docMk/>
            <pc:sldMk cId="0" sldId="259"/>
            <ac:spMk id="42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14:40.079" v="163" actId="1076"/>
          <ac:spMkLst>
            <pc:docMk/>
            <pc:sldMk cId="0" sldId="259"/>
            <ac:spMk id="44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14:40.079" v="163" actId="1076"/>
          <ac:spMkLst>
            <pc:docMk/>
            <pc:sldMk cId="0" sldId="259"/>
            <ac:spMk id="46" creationId="{00000000-0000-0000-0000-000000000000}"/>
          </ac:spMkLst>
        </pc:spChg>
        <pc:picChg chg="mod">
          <ac:chgData name="Boi, Matteo (DSL)" userId="82f0ed66-5171-4b7b-a4b0-05ee01bcdb77" providerId="ADAL" clId="{84FD0EBE-142F-49EE-BACE-6F78937E4B40}" dt="2026-09-30T09:14:40.079" v="163" actId="1076"/>
          <ac:picMkLst>
            <pc:docMk/>
            <pc:sldMk cId="0" sldId="259"/>
            <ac:picMk id="39" creationId="{00000000-0000-0000-0000-000000000000}"/>
          </ac:picMkLst>
        </pc:picChg>
        <pc:picChg chg="mod">
          <ac:chgData name="Boi, Matteo (DSL)" userId="82f0ed66-5171-4b7b-a4b0-05ee01bcdb77" providerId="ADAL" clId="{84FD0EBE-142F-49EE-BACE-6F78937E4B40}" dt="2026-09-30T09:14:40.079" v="163" actId="1076"/>
          <ac:picMkLst>
            <pc:docMk/>
            <pc:sldMk cId="0" sldId="259"/>
            <ac:picMk id="41" creationId="{00000000-0000-0000-0000-000000000000}"/>
          </ac:picMkLst>
        </pc:picChg>
        <pc:picChg chg="mod">
          <ac:chgData name="Boi, Matteo (DSL)" userId="82f0ed66-5171-4b7b-a4b0-05ee01bcdb77" providerId="ADAL" clId="{84FD0EBE-142F-49EE-BACE-6F78937E4B40}" dt="2026-09-30T09:14:40.079" v="163" actId="1076"/>
          <ac:picMkLst>
            <pc:docMk/>
            <pc:sldMk cId="0" sldId="259"/>
            <ac:picMk id="43" creationId="{00000000-0000-0000-0000-000000000000}"/>
          </ac:picMkLst>
        </pc:picChg>
        <pc:picChg chg="mod">
          <ac:chgData name="Boi, Matteo (DSL)" userId="82f0ed66-5171-4b7b-a4b0-05ee01bcdb77" providerId="ADAL" clId="{84FD0EBE-142F-49EE-BACE-6F78937E4B40}" dt="2026-09-30T09:14:40.079" v="163" actId="1076"/>
          <ac:picMkLst>
            <pc:docMk/>
            <pc:sldMk cId="0" sldId="259"/>
            <ac:picMk id="45" creationId="{00000000-0000-0000-0000-000000000000}"/>
          </ac:picMkLst>
        </pc:picChg>
      </pc:sldChg>
      <pc:sldChg chg="modNotesTx">
        <pc:chgData name="Boi, Matteo (DSL)" userId="82f0ed66-5171-4b7b-a4b0-05ee01bcdb77" providerId="ADAL" clId="{84FD0EBE-142F-49EE-BACE-6F78937E4B40}" dt="2026-09-30T09:48:14.452" v="227" actId="20577"/>
        <pc:sldMkLst>
          <pc:docMk/>
          <pc:sldMk cId="0" sldId="260"/>
        </pc:sldMkLst>
      </pc:sldChg>
      <pc:sldChg chg="modNotesTx">
        <pc:chgData name="Boi, Matteo (DSL)" userId="82f0ed66-5171-4b7b-a4b0-05ee01bcdb77" providerId="ADAL" clId="{84FD0EBE-142F-49EE-BACE-6F78937E4B40}" dt="2026-09-30T09:48:18.869" v="228" actId="20577"/>
        <pc:sldMkLst>
          <pc:docMk/>
          <pc:sldMk cId="0" sldId="261"/>
        </pc:sldMkLst>
      </pc:sldChg>
      <pc:sldChg chg="modNotesTx">
        <pc:chgData name="Boi, Matteo (DSL)" userId="82f0ed66-5171-4b7b-a4b0-05ee01bcdb77" providerId="ADAL" clId="{84FD0EBE-142F-49EE-BACE-6F78937E4B40}" dt="2026-09-30T09:48:20.950" v="229" actId="20577"/>
        <pc:sldMkLst>
          <pc:docMk/>
          <pc:sldMk cId="0" sldId="262"/>
        </pc:sldMkLst>
      </pc:sldChg>
      <pc:sldChg chg="modNotesTx">
        <pc:chgData name="Boi, Matteo (DSL)" userId="82f0ed66-5171-4b7b-a4b0-05ee01bcdb77" providerId="ADAL" clId="{84FD0EBE-142F-49EE-BACE-6F78937E4B40}" dt="2026-09-30T09:48:23.235" v="230" actId="20577"/>
        <pc:sldMkLst>
          <pc:docMk/>
          <pc:sldMk cId="0" sldId="263"/>
        </pc:sldMkLst>
      </pc:sldChg>
      <pc:sldChg chg="modNotesTx">
        <pc:chgData name="Boi, Matteo (DSL)" userId="82f0ed66-5171-4b7b-a4b0-05ee01bcdb77" providerId="ADAL" clId="{84FD0EBE-142F-49EE-BACE-6F78937E4B40}" dt="2026-09-30T09:48:26.132" v="231" actId="20577"/>
        <pc:sldMkLst>
          <pc:docMk/>
          <pc:sldMk cId="0" sldId="264"/>
        </pc:sldMkLst>
      </pc:sldChg>
      <pc:sldChg chg="modSp mod modNotesTx">
        <pc:chgData name="Boi, Matteo (DSL)" userId="82f0ed66-5171-4b7b-a4b0-05ee01bcdb77" providerId="ADAL" clId="{84FD0EBE-142F-49EE-BACE-6F78937E4B40}" dt="2026-09-30T09:48:28.353" v="232" actId="20577"/>
        <pc:sldMkLst>
          <pc:docMk/>
          <pc:sldMk cId="0" sldId="265"/>
        </pc:sldMkLst>
        <pc:spChg chg="mod">
          <ac:chgData name="Boi, Matteo (DSL)" userId="82f0ed66-5171-4b7b-a4b0-05ee01bcdb77" providerId="ADAL" clId="{84FD0EBE-142F-49EE-BACE-6F78937E4B40}" dt="2026-09-30T09:18:45.588" v="187" actId="20577"/>
          <ac:spMkLst>
            <pc:docMk/>
            <pc:sldMk cId="0" sldId="265"/>
            <ac:spMk id="2" creationId="{00000000-0000-0000-0000-000000000000}"/>
          </ac:spMkLst>
        </pc:spChg>
      </pc:sldChg>
      <pc:sldChg chg="del">
        <pc:chgData name="Boi, Matteo (DSL)" userId="82f0ed66-5171-4b7b-a4b0-05ee01bcdb77" providerId="ADAL" clId="{84FD0EBE-142F-49EE-BACE-6F78937E4B40}" dt="2026-09-29T13:56:39.643" v="53" actId="47"/>
        <pc:sldMkLst>
          <pc:docMk/>
          <pc:sldMk cId="0" sldId="266"/>
        </pc:sldMkLst>
      </pc:sldChg>
      <pc:sldChg chg="del">
        <pc:chgData name="Boi, Matteo (DSL)" userId="82f0ed66-5171-4b7b-a4b0-05ee01bcdb77" providerId="ADAL" clId="{84FD0EBE-142F-49EE-BACE-6F78937E4B40}" dt="2026-09-29T13:56:47.541" v="54" actId="47"/>
        <pc:sldMkLst>
          <pc:docMk/>
          <pc:sldMk cId="0" sldId="267"/>
        </pc:sldMkLst>
      </pc:sldChg>
      <pc:sldChg chg="modNotesTx">
        <pc:chgData name="Boi, Matteo (DSL)" userId="82f0ed66-5171-4b7b-a4b0-05ee01bcdb77" providerId="ADAL" clId="{84FD0EBE-142F-49EE-BACE-6F78937E4B40}" dt="2026-09-30T09:48:30.335" v="233" actId="20577"/>
        <pc:sldMkLst>
          <pc:docMk/>
          <pc:sldMk cId="0" sldId="268"/>
        </pc:sldMkLst>
      </pc:sldChg>
      <pc:sldChg chg="modNotesTx">
        <pc:chgData name="Boi, Matteo (DSL)" userId="82f0ed66-5171-4b7b-a4b0-05ee01bcdb77" providerId="ADAL" clId="{84FD0EBE-142F-49EE-BACE-6F78937E4B40}" dt="2026-09-30T09:48:33.188" v="234" actId="20577"/>
        <pc:sldMkLst>
          <pc:docMk/>
          <pc:sldMk cId="0" sldId="269"/>
        </pc:sldMkLst>
      </pc:sldChg>
      <pc:sldChg chg="modNotesTx">
        <pc:chgData name="Boi, Matteo (DSL)" userId="82f0ed66-5171-4b7b-a4b0-05ee01bcdb77" providerId="ADAL" clId="{84FD0EBE-142F-49EE-BACE-6F78937E4B40}" dt="2026-09-30T09:48:36.290" v="235" actId="20577"/>
        <pc:sldMkLst>
          <pc:docMk/>
          <pc:sldMk cId="0" sldId="270"/>
        </pc:sldMkLst>
      </pc:sldChg>
      <pc:sldChg chg="modNotesTx">
        <pc:chgData name="Boi, Matteo (DSL)" userId="82f0ed66-5171-4b7b-a4b0-05ee01bcdb77" providerId="ADAL" clId="{84FD0EBE-142F-49EE-BACE-6F78937E4B40}" dt="2026-09-30T09:48:38.504" v="236" actId="20577"/>
        <pc:sldMkLst>
          <pc:docMk/>
          <pc:sldMk cId="0" sldId="271"/>
        </pc:sldMkLst>
      </pc:sldChg>
      <pc:sldChg chg="modNotesTx">
        <pc:chgData name="Boi, Matteo (DSL)" userId="82f0ed66-5171-4b7b-a4b0-05ee01bcdb77" providerId="ADAL" clId="{84FD0EBE-142F-49EE-BACE-6F78937E4B40}" dt="2026-09-30T09:48:43.143" v="237" actId="20577"/>
        <pc:sldMkLst>
          <pc:docMk/>
          <pc:sldMk cId="0" sldId="272"/>
        </pc:sldMkLst>
      </pc:sldChg>
      <pc:sldChg chg="modNotesTx">
        <pc:chgData name="Boi, Matteo (DSL)" userId="82f0ed66-5171-4b7b-a4b0-05ee01bcdb77" providerId="ADAL" clId="{84FD0EBE-142F-49EE-BACE-6F78937E4B40}" dt="2026-09-30T09:48:49.214" v="239" actId="20577"/>
        <pc:sldMkLst>
          <pc:docMk/>
          <pc:sldMk cId="0" sldId="273"/>
        </pc:sldMkLst>
      </pc:sldChg>
      <pc:sldChg chg="del">
        <pc:chgData name="Boi, Matteo (DSL)" userId="82f0ed66-5171-4b7b-a4b0-05ee01bcdb77" providerId="ADAL" clId="{84FD0EBE-142F-49EE-BACE-6F78937E4B40}" dt="2026-09-30T09:23:11.414" v="188" actId="47"/>
        <pc:sldMkLst>
          <pc:docMk/>
          <pc:sldMk cId="0" sldId="274"/>
        </pc:sldMkLst>
      </pc:sldChg>
      <pc:sldChg chg="modSp mod modNotesTx">
        <pc:chgData name="Boi, Matteo (DSL)" userId="82f0ed66-5171-4b7b-a4b0-05ee01bcdb77" providerId="ADAL" clId="{84FD0EBE-142F-49EE-BACE-6F78937E4B40}" dt="2026-09-30T09:48:51.795" v="240" actId="20577"/>
        <pc:sldMkLst>
          <pc:docMk/>
          <pc:sldMk cId="0" sldId="275"/>
        </pc:sldMkLst>
        <pc:spChg chg="mod">
          <ac:chgData name="Boi, Matteo (DSL)" userId="82f0ed66-5171-4b7b-a4b0-05ee01bcdb77" providerId="ADAL" clId="{84FD0EBE-142F-49EE-BACE-6F78937E4B40}" dt="2026-09-30T09:23:24.634" v="196" actId="20577"/>
          <ac:spMkLst>
            <pc:docMk/>
            <pc:sldMk cId="0" sldId="275"/>
            <ac:spMk id="8" creationId="{00000000-0000-0000-0000-000000000000}"/>
          </ac:spMkLst>
        </pc:spChg>
      </pc:sldChg>
      <pc:sldChg chg="modNotesTx">
        <pc:chgData name="Boi, Matteo (DSL)" userId="82f0ed66-5171-4b7b-a4b0-05ee01bcdb77" providerId="ADAL" clId="{84FD0EBE-142F-49EE-BACE-6F78937E4B40}" dt="2026-09-30T09:48:54.573" v="241" actId="20577"/>
        <pc:sldMkLst>
          <pc:docMk/>
          <pc:sldMk cId="0" sldId="276"/>
        </pc:sldMkLst>
      </pc:sldChg>
      <pc:sldChg chg="modSp mod modNotesTx">
        <pc:chgData name="Boi, Matteo (DSL)" userId="82f0ed66-5171-4b7b-a4b0-05ee01bcdb77" providerId="ADAL" clId="{84FD0EBE-142F-49EE-BACE-6F78937E4B40}" dt="2026-09-30T09:48:56.767" v="242" actId="20577"/>
        <pc:sldMkLst>
          <pc:docMk/>
          <pc:sldMk cId="0" sldId="277"/>
        </pc:sldMkLst>
        <pc:spChg chg="mod">
          <ac:chgData name="Boi, Matteo (DSL)" userId="82f0ed66-5171-4b7b-a4b0-05ee01bcdb77" providerId="ADAL" clId="{84FD0EBE-142F-49EE-BACE-6F78937E4B40}" dt="2026-09-30T09:25:01.749" v="213" actId="1035"/>
          <ac:spMkLst>
            <pc:docMk/>
            <pc:sldMk cId="0" sldId="277"/>
            <ac:spMk id="10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25:01.749" v="213" actId="1035"/>
          <ac:spMkLst>
            <pc:docMk/>
            <pc:sldMk cId="0" sldId="277"/>
            <ac:spMk id="11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25:01.749" v="213" actId="1035"/>
          <ac:spMkLst>
            <pc:docMk/>
            <pc:sldMk cId="0" sldId="277"/>
            <ac:spMk id="14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25:01.749" v="213" actId="1035"/>
          <ac:spMkLst>
            <pc:docMk/>
            <pc:sldMk cId="0" sldId="277"/>
            <ac:spMk id="15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25:01.749" v="213" actId="1035"/>
          <ac:spMkLst>
            <pc:docMk/>
            <pc:sldMk cId="0" sldId="277"/>
            <ac:spMk id="18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25:01.749" v="213" actId="1035"/>
          <ac:spMkLst>
            <pc:docMk/>
            <pc:sldMk cId="0" sldId="277"/>
            <ac:spMk id="19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25:01.749" v="213" actId="1035"/>
          <ac:spMkLst>
            <pc:docMk/>
            <pc:sldMk cId="0" sldId="277"/>
            <ac:spMk id="22" creationId="{00000000-0000-0000-0000-000000000000}"/>
          </ac:spMkLst>
        </pc:spChg>
        <pc:spChg chg="mod">
          <ac:chgData name="Boi, Matteo (DSL)" userId="82f0ed66-5171-4b7b-a4b0-05ee01bcdb77" providerId="ADAL" clId="{84FD0EBE-142F-49EE-BACE-6F78937E4B40}" dt="2026-09-30T09:25:01.749" v="213" actId="1035"/>
          <ac:spMkLst>
            <pc:docMk/>
            <pc:sldMk cId="0" sldId="277"/>
            <ac:spMk id="23" creationId="{00000000-0000-0000-0000-000000000000}"/>
          </ac:spMkLst>
        </pc:spChg>
      </pc:sldChg>
      <pc:sldChg chg="modNotesTx">
        <pc:chgData name="Boi, Matteo (DSL)" userId="82f0ed66-5171-4b7b-a4b0-05ee01bcdb77" providerId="ADAL" clId="{84FD0EBE-142F-49EE-BACE-6F78937E4B40}" dt="2026-09-30T09:48:59.550" v="243" actId="20577"/>
        <pc:sldMkLst>
          <pc:docMk/>
          <pc:sldMk cId="0" sldId="278"/>
        </pc:sldMkLst>
      </pc:sldChg>
      <pc:sldChg chg="modNotesTx">
        <pc:chgData name="Boi, Matteo (DSL)" userId="82f0ed66-5171-4b7b-a4b0-05ee01bcdb77" providerId="ADAL" clId="{84FD0EBE-142F-49EE-BACE-6F78937E4B40}" dt="2026-09-30T09:49:02.814" v="244" actId="20577"/>
        <pc:sldMkLst>
          <pc:docMk/>
          <pc:sldMk cId="0" sldId="279"/>
        </pc:sldMkLst>
      </pc:sldChg>
      <pc:sldChg chg="modNotesTx">
        <pc:chgData name="Boi, Matteo (DSL)" userId="82f0ed66-5171-4b7b-a4b0-05ee01bcdb77" providerId="ADAL" clId="{84FD0EBE-142F-49EE-BACE-6F78937E4B40}" dt="2026-09-30T09:49:04.739" v="245" actId="20577"/>
        <pc:sldMkLst>
          <pc:docMk/>
          <pc:sldMk cId="0" sldId="280"/>
        </pc:sldMkLst>
      </pc:sldChg>
      <pc:sldChg chg="modNotesTx">
        <pc:chgData name="Boi, Matteo (DSL)" userId="82f0ed66-5171-4b7b-a4b0-05ee01bcdb77" providerId="ADAL" clId="{84FD0EBE-142F-49EE-BACE-6F78937E4B40}" dt="2026-09-30T09:49:06.807" v="246" actId="20577"/>
        <pc:sldMkLst>
          <pc:docMk/>
          <pc:sldMk cId="0" sldId="281"/>
        </pc:sldMkLst>
      </pc:sldChg>
      <pc:sldChg chg="modNotesTx">
        <pc:chgData name="Boi, Matteo (DSL)" userId="82f0ed66-5171-4b7b-a4b0-05ee01bcdb77" providerId="ADAL" clId="{84FD0EBE-142F-49EE-BACE-6F78937E4B40}" dt="2026-09-30T09:49:10.382" v="247" actId="20577"/>
        <pc:sldMkLst>
          <pc:docMk/>
          <pc:sldMk cId="0" sldId="282"/>
        </pc:sldMkLst>
      </pc:sldChg>
      <pc:sldChg chg="modNotesTx">
        <pc:chgData name="Boi, Matteo (DSL)" userId="82f0ed66-5171-4b7b-a4b0-05ee01bcdb77" providerId="ADAL" clId="{84FD0EBE-142F-49EE-BACE-6F78937E4B40}" dt="2026-09-30T09:49:12.828" v="248" actId="20577"/>
        <pc:sldMkLst>
          <pc:docMk/>
          <pc:sldMk cId="0" sldId="283"/>
        </pc:sldMkLst>
      </pc:sldChg>
      <pc:sldChg chg="modNotesTx">
        <pc:chgData name="Boi, Matteo (DSL)" userId="82f0ed66-5171-4b7b-a4b0-05ee01bcdb77" providerId="ADAL" clId="{84FD0EBE-142F-49EE-BACE-6F78937E4B40}" dt="2026-09-30T09:49:15.917" v="249" actId="20577"/>
        <pc:sldMkLst>
          <pc:docMk/>
          <pc:sldMk cId="0" sldId="284"/>
        </pc:sldMkLst>
      </pc:sldChg>
      <pc:sldChg chg="delSp mod modNotesTx">
        <pc:chgData name="Boi, Matteo (DSL)" userId="82f0ed66-5171-4b7b-a4b0-05ee01bcdb77" providerId="ADAL" clId="{84FD0EBE-142F-49EE-BACE-6F78937E4B40}" dt="2026-09-30T09:49:19.620" v="250" actId="20577"/>
        <pc:sldMkLst>
          <pc:docMk/>
          <pc:sldMk cId="0" sldId="285"/>
        </pc:sldMkLst>
        <pc:spChg chg="del">
          <ac:chgData name="Boi, Matteo (DSL)" userId="82f0ed66-5171-4b7b-a4b0-05ee01bcdb77" providerId="ADAL" clId="{84FD0EBE-142F-49EE-BACE-6F78937E4B40}" dt="2026-09-30T09:27:56.166" v="214" actId="478"/>
          <ac:spMkLst>
            <pc:docMk/>
            <pc:sldMk cId="0" sldId="285"/>
            <ac:spMk id="8" creationId="{00000000-0000-0000-0000-000000000000}"/>
          </ac:spMkLst>
        </pc:spChg>
      </pc:sldChg>
      <pc:sldChg chg="modNotesTx">
        <pc:chgData name="Boi, Matteo (DSL)" userId="82f0ed66-5171-4b7b-a4b0-05ee01bcdb77" providerId="ADAL" clId="{84FD0EBE-142F-49EE-BACE-6F78937E4B40}" dt="2026-09-30T09:49:22.057" v="251" actId="20577"/>
        <pc:sldMkLst>
          <pc:docMk/>
          <pc:sldMk cId="0" sldId="286"/>
        </pc:sldMkLst>
      </pc:sldChg>
      <pc:sldChg chg="modNotesTx">
        <pc:chgData name="Boi, Matteo (DSL)" userId="82f0ed66-5171-4b7b-a4b0-05ee01bcdb77" providerId="ADAL" clId="{84FD0EBE-142F-49EE-BACE-6F78937E4B40}" dt="2026-09-30T09:49:24.341" v="252" actId="20577"/>
        <pc:sldMkLst>
          <pc:docMk/>
          <pc:sldMk cId="0" sldId="287"/>
        </pc:sldMkLst>
      </pc:sldChg>
      <pc:sldChg chg="modSp mod modNotesTx">
        <pc:chgData name="Boi, Matteo (DSL)" userId="82f0ed66-5171-4b7b-a4b0-05ee01bcdb77" providerId="ADAL" clId="{84FD0EBE-142F-49EE-BACE-6F78937E4B40}" dt="2026-09-30T09:49:28.361" v="253" actId="20577"/>
        <pc:sldMkLst>
          <pc:docMk/>
          <pc:sldMk cId="0" sldId="288"/>
        </pc:sldMkLst>
        <pc:spChg chg="mod">
          <ac:chgData name="Boi, Matteo (DSL)" userId="82f0ed66-5171-4b7b-a4b0-05ee01bcdb77" providerId="ADAL" clId="{84FD0EBE-142F-49EE-BACE-6F78937E4B40}" dt="2026-09-30T09:28:44.111" v="216" actId="1076"/>
          <ac:spMkLst>
            <pc:docMk/>
            <pc:sldMk cId="0" sldId="288"/>
            <ac:spMk id="21" creationId="{00000000-0000-0000-0000-000000000000}"/>
          </ac:spMkLst>
        </pc:spChg>
        <pc:picChg chg="mod">
          <ac:chgData name="Boi, Matteo (DSL)" userId="82f0ed66-5171-4b7b-a4b0-05ee01bcdb77" providerId="ADAL" clId="{84FD0EBE-142F-49EE-BACE-6F78937E4B40}" dt="2026-09-30T09:28:34.712" v="215" actId="1076"/>
          <ac:picMkLst>
            <pc:docMk/>
            <pc:sldMk cId="0" sldId="288"/>
            <ac:picMk id="11" creationId="{00000000-0000-0000-0000-000000000000}"/>
          </ac:picMkLst>
        </pc:picChg>
      </pc:sldChg>
      <pc:sldChg chg="modNotesTx">
        <pc:chgData name="Boi, Matteo (DSL)" userId="82f0ed66-5171-4b7b-a4b0-05ee01bcdb77" providerId="ADAL" clId="{84FD0EBE-142F-49EE-BACE-6F78937E4B40}" dt="2026-09-30T09:49:30.164" v="254" actId="20577"/>
        <pc:sldMkLst>
          <pc:docMk/>
          <pc:sldMk cId="0" sldId="289"/>
        </pc:sldMkLst>
      </pc:sldChg>
      <pc:sldChg chg="modNotesTx">
        <pc:chgData name="Boi, Matteo (DSL)" userId="82f0ed66-5171-4b7b-a4b0-05ee01bcdb77" providerId="ADAL" clId="{84FD0EBE-142F-49EE-BACE-6F78937E4B40}" dt="2026-09-30T09:49:32.261" v="255" actId="20577"/>
        <pc:sldMkLst>
          <pc:docMk/>
          <pc:sldMk cId="0" sldId="290"/>
        </pc:sldMkLst>
      </pc:sldChg>
      <pc:sldChg chg="modSp mod modNotesTx">
        <pc:chgData name="Boi, Matteo (DSL)" userId="82f0ed66-5171-4b7b-a4b0-05ee01bcdb77" providerId="ADAL" clId="{84FD0EBE-142F-49EE-BACE-6F78937E4B40}" dt="2026-09-30T09:49:34.997" v="256" actId="20577"/>
        <pc:sldMkLst>
          <pc:docMk/>
          <pc:sldMk cId="0" sldId="291"/>
        </pc:sldMkLst>
        <pc:spChg chg="mod">
          <ac:chgData name="Boi, Matteo (DSL)" userId="82f0ed66-5171-4b7b-a4b0-05ee01bcdb77" providerId="ADAL" clId="{84FD0EBE-142F-49EE-BACE-6F78937E4B40}" dt="2026-09-30T09:30:35.640" v="221" actId="114"/>
          <ac:spMkLst>
            <pc:docMk/>
            <pc:sldMk cId="0" sldId="291"/>
            <ac:spMk id="11" creationId="{00000000-0000-0000-0000-000000000000}"/>
          </ac:spMkLst>
        </pc:spChg>
      </pc:sldChg>
      <pc:sldChg chg="modNotesTx">
        <pc:chgData name="Boi, Matteo (DSL)" userId="82f0ed66-5171-4b7b-a4b0-05ee01bcdb77" providerId="ADAL" clId="{84FD0EBE-142F-49EE-BACE-6F78937E4B40}" dt="2026-09-30T09:49:36.977" v="257" actId="20577"/>
        <pc:sldMkLst>
          <pc:docMk/>
          <pc:sldMk cId="0" sldId="292"/>
        </pc:sldMkLst>
      </pc:sldChg>
      <pc:sldChg chg="add modNotesTx">
        <pc:chgData name="Boi, Matteo (DSL)" userId="82f0ed66-5171-4b7b-a4b0-05ee01bcdb77" providerId="ADAL" clId="{84FD0EBE-142F-49EE-BACE-6F78937E4B40}" dt="2026-09-30T09:48:04.161" v="224" actId="20577"/>
        <pc:sldMkLst>
          <pc:docMk/>
          <pc:sldMk cId="1030126822" sldId="293"/>
        </pc:sldMkLst>
      </pc:sldChg>
      <pc:sldChg chg="modNotesTx">
        <pc:chgData name="Boi, Matteo (DSL)" userId="82f0ed66-5171-4b7b-a4b0-05ee01bcdb77" providerId="ADAL" clId="{84FD0EBE-142F-49EE-BACE-6F78937E4B40}" dt="2026-09-30T09:48:45.337" v="238" actId="20577"/>
        <pc:sldMkLst>
          <pc:docMk/>
          <pc:sldMk cId="2988012938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39255-9F59-4CB1-AD21-993566954BF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BD7EE-6AC5-4DB0-B12D-DDC30732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97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BD7EE-6AC5-4DB0-B12D-DDC3073274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09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148CF-CAB2-3BDE-BC89-D78EE7AA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1C329-4E9C-E7CD-8B6C-FDE7143E6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5411E-A66A-68CE-AE55-54EB139E8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6476C-FC08-5BBC-BF98-AC51D1AAB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11281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4812-6B63-DA78-F07A-443BC2F33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96437-7F20-4A42-B72F-86D4BB4A0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6F073-2DFF-D2BE-23DF-D07946C27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C70A8-A3C3-69D8-5753-B0A4FC97D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125871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A6A9-D589-DD5C-B94B-3CC686F7B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DC294-93F6-A03C-C45F-18E4B8B0A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73945-54C1-54D9-E188-ED42703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3E9EE-D1C1-9634-5B4D-C7FA8C8A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86ADB-8C14-2A0D-DA6F-1D0A3B8E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967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FA99-0277-4B5C-F946-656CFECD2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E658E-287E-4DDC-8886-EE141A9D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6CE7A-BAA8-BA1D-CC2D-22D909FD5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E1BBE-566C-DC52-9F10-DF303608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9E2AE-BFE2-A77E-08EF-CE9FF595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481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A0A6-9F6D-A2BA-2E03-2450D66C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5B9C3-EB4E-40BC-0B1B-063E64E69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0FED5-AE74-457A-3D3B-80025BA4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53B83-A7C6-7D64-139D-96CD10C8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07319-22C9-1F76-C584-17DFF6D3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743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559F-2A6C-5AD4-1386-F25812A3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095BE-4D97-4EFF-D400-01DF337E4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CBD0D-5419-27B4-5D41-DC47BEBA1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40B8A-2102-D34B-F561-A3A26217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EFA06-C297-5711-9093-1BA569698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04B8F-6E6B-B6D9-5E4A-9BB102C5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14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28038-C575-0789-D40B-671D558D1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2AB6E-D232-BBD2-5B29-3344311EF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586A5-CB70-62CB-B70A-3B931CA3E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5DF4A-C72E-3EF3-69E5-D27FD4710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A0B4C-D046-25A2-D2B9-E3F742380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8B5F0-5E72-8913-F1A6-A7ACCA9BC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505CB-4CD5-AF88-0C52-D1FBEC56D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732FF7-C2FF-96A1-F0C0-D7D07948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1342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0256-1A17-7CF3-363C-E21AB81E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59B6A-81E1-7475-FC6A-2E5EACD7E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263F7-E6F1-C2EE-395D-6689926D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838E6-B467-EC80-96A2-926ECC29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671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F59F6-8DEC-C6DB-0884-F72BEFB8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DF593-9611-6F63-D05E-8EFA3D07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57B93-6470-36D9-B8CF-F8F31732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023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E6283-AB9B-D195-177B-E467DC83A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0EAA-AC7E-12CD-B215-DC5ED1567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8F490-1658-13CF-BC36-EC71C6B01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B2B3E-4A4A-549E-795E-645023EC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EE513-8877-27B5-6401-3486BCCC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8EE6B-4D7E-479A-F464-4FE21BAD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59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ADC09-32B0-1F68-0CFD-0350E585E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EA9A3-7B4F-20B2-2A35-83AD5A1CC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ABD0B-5B03-EDB8-CD61-9A2715E09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22B6-8E1B-F563-7C4E-88403792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644EB-0C9E-FB4B-2F8B-4F10FDC3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59B90-4FEE-B89B-10CB-8990A802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117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DFE5-662D-AE1E-AFF9-D25FB4C45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D2CB3-501E-F920-583B-449ED6814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B3C0A-F931-8ADF-E085-573A8671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5F35A-D034-971C-4B66-D5CA9855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0E776-263E-9784-9F02-593FBFB2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575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E7AFE3-9467-9410-C4FE-564F5E58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08200-DBFE-0597-78B6-170F4785C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598FC-F479-6566-434B-F17B5566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A84CA-BC42-9ED9-4EED-7C8836D0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0796E-415A-C222-FE86-DA372ABC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476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84A2A-D7E5-2B81-D2BE-700ADF63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4FF29-0275-6689-DEE2-859D61853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F178D-E073-BDA2-48CC-5741961DA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F2C90-A174-4428-BEA0-8C2E8F6C5F79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DF7DE-BDA5-4FA5-C219-C04A00152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285EC-19F9-C4A8-05E5-E67E6929E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6FDDD-24F3-4096-B7E1-3D5D89787D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525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9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5.png"/><Relationship Id="rId4" Type="http://schemas.openxmlformats.org/officeDocument/2006/relationships/image" Target="../media/image51.png"/><Relationship Id="rId9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openxmlformats.org/officeDocument/2006/relationships/image" Target="../media/image21.png"/><Relationship Id="rId5" Type="http://schemas.openxmlformats.org/officeDocument/2006/relationships/image" Target="../media/image59.png"/><Relationship Id="rId10" Type="http://schemas.openxmlformats.org/officeDocument/2006/relationships/image" Target="../media/image61.png"/><Relationship Id="rId4" Type="http://schemas.openxmlformats.org/officeDocument/2006/relationships/image" Target="../media/image6.png"/><Relationship Id="rId9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18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3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black letter with a black background&#10;&#10;Description automatically generated">
            <a:extLst>
              <a:ext uri="{FF2B5EF4-FFF2-40B4-BE49-F238E27FC236}">
                <a16:creationId xmlns:a16="http://schemas.microsoft.com/office/drawing/2014/main" id="{88238E6D-4614-AFFC-F909-A2413515A0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064" y="-18415"/>
            <a:ext cx="6152505" cy="65144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7608A1-FDB9-4F79-56DB-FDE156806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9925" y="868362"/>
            <a:ext cx="7412148" cy="238760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4400" b="1" noProof="0" dirty="0">
                <a:latin typeface="+mn-lt"/>
                <a:ea typeface="+mn-ea"/>
                <a:cs typeface="+mn-cs"/>
              </a:rPr>
              <a:t>Introduction to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2C6D3-69F7-54A5-BF42-0BA5418A3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9"/>
            <a:ext cx="9144000" cy="1655762"/>
          </a:xfrm>
        </p:spPr>
        <p:txBody>
          <a:bodyPr>
            <a:normAutofit/>
          </a:bodyPr>
          <a:lstStyle/>
          <a:p>
            <a:r>
              <a:rPr lang="en-US" sz="2200" noProof="0" dirty="0">
                <a:latin typeface="+mj-lt"/>
              </a:rPr>
              <a:t>Day 1 · Your toolbox: Python, packages, uv &amp; JupyterLab</a:t>
            </a:r>
          </a:p>
          <a:p>
            <a:r>
              <a:rPr lang="en-US" sz="2200" noProof="0" dirty="0">
                <a:latin typeface="+mj-lt"/>
              </a:rPr>
              <a:t>World Trade Institute</a:t>
            </a:r>
          </a:p>
        </p:txBody>
      </p:sp>
      <p:cxnSp>
        <p:nvCxnSpPr>
          <p:cNvPr id="11" name="Connettore diritto 9">
            <a:extLst>
              <a:ext uri="{FF2B5EF4-FFF2-40B4-BE49-F238E27FC236}">
                <a16:creationId xmlns:a16="http://schemas.microsoft.com/office/drawing/2014/main" id="{B7D5932D-B1B9-12B4-05E4-A1524386B251}"/>
              </a:ext>
            </a:extLst>
          </p:cNvPr>
          <p:cNvCxnSpPr/>
          <p:nvPr/>
        </p:nvCxnSpPr>
        <p:spPr>
          <a:xfrm>
            <a:off x="3188491" y="6317876"/>
            <a:ext cx="5747657" cy="18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CA7931A-6A53-D745-EECD-468F6EEA8395}"/>
              </a:ext>
            </a:extLst>
          </p:cNvPr>
          <p:cNvSpPr txBox="1"/>
          <p:nvPr/>
        </p:nvSpPr>
        <p:spPr>
          <a:xfrm>
            <a:off x="5596482" y="6335936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[02/10/2026]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6FA156-4370-7E8F-0DB7-61689FD7F4F7}"/>
              </a:ext>
            </a:extLst>
          </p:cNvPr>
          <p:cNvSpPr txBox="1"/>
          <p:nvPr/>
        </p:nvSpPr>
        <p:spPr>
          <a:xfrm>
            <a:off x="4181208" y="4963194"/>
            <a:ext cx="37622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latin typeface="+mj-lt"/>
              </a:rPr>
              <a:t>Presenters:</a:t>
            </a:r>
          </a:p>
          <a:p>
            <a:pPr algn="ctr"/>
            <a:r>
              <a:rPr lang="en-US" noProof="0" dirty="0">
                <a:latin typeface="+mj-lt"/>
              </a:rPr>
              <a:t>Matteo Boi &amp; Michael Horn</a:t>
            </a:r>
          </a:p>
          <a:p>
            <a:pPr algn="ctr"/>
            <a:r>
              <a:rPr lang="en-US" noProof="0" dirty="0">
                <a:latin typeface="+mj-lt"/>
              </a:rPr>
              <a:t>DSL</a:t>
            </a:r>
          </a:p>
        </p:txBody>
      </p:sp>
      <p:pic>
        <p:nvPicPr>
          <p:cNvPr id="7" name="Picture 6" descr="A red text on a black background&#10;&#10;Description automatically generated">
            <a:extLst>
              <a:ext uri="{FF2B5EF4-FFF2-40B4-BE49-F238E27FC236}">
                <a16:creationId xmlns:a16="http://schemas.microsoft.com/office/drawing/2014/main" id="{8A6BB74F-5AF9-0A11-72B9-C0E1D5577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0" y="0"/>
            <a:ext cx="4027559" cy="132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0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Quick poll: raise your hand if…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515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</a:rPr>
              <a:t>No wrong answers: this helps us pitch the course at the right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03020" y="20574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FileExce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421" y="2298801"/>
            <a:ext cx="523036" cy="523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29184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</a:rPr>
              <a:t>…you have written an </a:t>
            </a:r>
            <a:r>
              <a:rPr sz="2200" b="1" i="0">
                <a:solidFill>
                  <a:srgbClr val="000000"/>
                </a:solidFill>
              </a:rPr>
              <a:t>Excel formula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3736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83380" y="20574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781" y="2298801"/>
            <a:ext cx="523036" cy="5230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11880" y="329184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</a:rPr>
              <a:t>…you have used </a:t>
            </a:r>
            <a:r>
              <a:rPr sz="2200" b="1" i="0">
                <a:solidFill>
                  <a:srgbClr val="000000"/>
                </a:solidFill>
              </a:rPr>
              <a:t>Stata, R or SPSS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63740" y="20574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Cod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141" y="2298801"/>
            <a:ext cx="523036" cy="5230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329184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</a:rPr>
              <a:t>…you have written a </a:t>
            </a:r>
            <a:r>
              <a:rPr sz="2200" b="1" i="0">
                <a:solidFill>
                  <a:srgbClr val="000000"/>
                </a:solidFill>
              </a:rPr>
              <a:t>line of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73736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944100" y="20574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Terminal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5501" y="2298801"/>
            <a:ext cx="523036" cy="5230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72600" y="329184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</a:rPr>
              <a:t>…you have ever opened a </a:t>
            </a:r>
            <a:r>
              <a:rPr sz="2200" b="1" i="0">
                <a:solidFill>
                  <a:srgbClr val="000000"/>
                </a:solidFill>
              </a:rPr>
              <a:t>terminal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9204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FF0000"/>
                </a:solidFill>
              </a:rPr>
              <a:t>Whatever you raised: you are in the right room.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/>
      <p:bldP spid="15" grpId="0" animBg="1"/>
      <p:bldP spid="16" grpId="0" animBg="1"/>
      <p:bldP spid="18" grpId="0"/>
      <p:bldP spid="19" grpId="0" animBg="1"/>
      <p:bldP spid="20" grpId="0" animBg="1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3F4A-60DD-4208-0E11-2DF91F4D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B867-0AD2-AB7D-7F1D-EA1BB226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Why should a trade researcher code?</a:t>
            </a: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A6B5883-4868-8558-23AC-65D434EA4435}"/>
              </a:ext>
            </a:extLst>
          </p:cNvPr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D442F916-AEA6-1166-4660-DCBAEB618ADB}"/>
              </a:ext>
            </a:extLst>
          </p:cNvPr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>
            <a:extLst>
              <a:ext uri="{FF2B5EF4-FFF2-40B4-BE49-F238E27FC236}">
                <a16:creationId xmlns:a16="http://schemas.microsoft.com/office/drawing/2014/main" id="{9D21E167-A039-5C80-A043-285D92C7F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F492D8-B30B-C77C-1332-82FEA336ADE9}"/>
              </a:ext>
            </a:extLst>
          </p:cNvPr>
          <p:cNvSpPr/>
          <p:nvPr/>
        </p:nvSpPr>
        <p:spPr>
          <a:xfrm>
            <a:off x="502920" y="1188720"/>
            <a:ext cx="3566160" cy="2697480"/>
          </a:xfrm>
          <a:prstGeom prst="roundRect">
            <a:avLst>
              <a:gd name="adj" fmla="val 5084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ScaleBalanced_FF0000.png">
            <a:extLst>
              <a:ext uri="{FF2B5EF4-FFF2-40B4-BE49-F238E27FC236}">
                <a16:creationId xmlns:a16="http://schemas.microsoft.com/office/drawing/2014/main" id="{2C92972D-3AAF-869C-DF72-DD97F02F9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417320"/>
            <a:ext cx="502920" cy="5029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A8DDD8-C72F-DD4E-FEC2-E3BE2BF3AA27}"/>
              </a:ext>
            </a:extLst>
          </p:cNvPr>
          <p:cNvSpPr txBox="1"/>
          <p:nvPr/>
        </p:nvSpPr>
        <p:spPr>
          <a:xfrm>
            <a:off x="822960" y="196596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 dirty="0">
                <a:solidFill>
                  <a:srgbClr val="FF0000"/>
                </a:solidFill>
              </a:rPr>
              <a:t>600+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D99EE-01D9-6627-4145-E72927BEA78B}"/>
              </a:ext>
            </a:extLst>
          </p:cNvPr>
          <p:cNvSpPr txBox="1"/>
          <p:nvPr/>
        </p:nvSpPr>
        <p:spPr>
          <a:xfrm>
            <a:off x="822960" y="29260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262626"/>
                </a:solidFill>
              </a:rPr>
              <a:t>WTO disputes since 1995: thousands of pages of legal text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8DCD80-49A9-2283-3139-2B4A62A517FE}"/>
              </a:ext>
            </a:extLst>
          </p:cNvPr>
          <p:cNvSpPr/>
          <p:nvPr/>
        </p:nvSpPr>
        <p:spPr>
          <a:xfrm>
            <a:off x="4343400" y="1188720"/>
            <a:ext cx="3566160" cy="2697480"/>
          </a:xfrm>
          <a:prstGeom prst="roundRect">
            <a:avLst>
              <a:gd name="adj" fmla="val 5084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Globe_FF0000.png">
            <a:extLst>
              <a:ext uri="{FF2B5EF4-FFF2-40B4-BE49-F238E27FC236}">
                <a16:creationId xmlns:a16="http://schemas.microsoft.com/office/drawing/2014/main" id="{564686AC-3D5E-391D-8631-4D25C838C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417320"/>
            <a:ext cx="502920" cy="5029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5571C9-4277-1C9A-7132-A7E032CA6017}"/>
              </a:ext>
            </a:extLst>
          </p:cNvPr>
          <p:cNvSpPr txBox="1"/>
          <p:nvPr/>
        </p:nvSpPr>
        <p:spPr>
          <a:xfrm>
            <a:off x="4663440" y="196596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 dirty="0">
                <a:solidFill>
                  <a:srgbClr val="FF0000"/>
                </a:solidFill>
              </a:rPr>
              <a:t>5,000+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17ECFC-CC3A-C465-6E2A-EB8D552C6838}"/>
              </a:ext>
            </a:extLst>
          </p:cNvPr>
          <p:cNvSpPr txBox="1"/>
          <p:nvPr/>
        </p:nvSpPr>
        <p:spPr>
          <a:xfrm>
            <a:off x="4663440" y="29260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262626"/>
                </a:solidFill>
              </a:rPr>
              <a:t>six-digit product codes in the Harmonized System (HS)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BCE4CA9-DDA2-154E-89EB-656A99A23C2B}"/>
              </a:ext>
            </a:extLst>
          </p:cNvPr>
          <p:cNvSpPr/>
          <p:nvPr/>
        </p:nvSpPr>
        <p:spPr>
          <a:xfrm>
            <a:off x="8183880" y="1188720"/>
            <a:ext cx="3566160" cy="2697480"/>
          </a:xfrm>
          <a:prstGeom prst="roundRect">
            <a:avLst>
              <a:gd name="adj" fmla="val 5084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Table_FF0000.png">
            <a:extLst>
              <a:ext uri="{FF2B5EF4-FFF2-40B4-BE49-F238E27FC236}">
                <a16:creationId xmlns:a16="http://schemas.microsoft.com/office/drawing/2014/main" id="{80AF8621-2FDA-034A-C4EB-24519BE51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1417320"/>
            <a:ext cx="502920" cy="5029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8EB46DF-66AC-8CBA-4385-719E88CFF1B1}"/>
              </a:ext>
            </a:extLst>
          </p:cNvPr>
          <p:cNvSpPr txBox="1"/>
          <p:nvPr/>
        </p:nvSpPr>
        <p:spPr>
          <a:xfrm>
            <a:off x="8503920" y="196596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 dirty="0">
                <a:solidFill>
                  <a:srgbClr val="FF0000"/>
                </a:solidFill>
              </a:rPr>
              <a:t>60+ years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738584-BA52-AC69-A58B-C1117C63000D}"/>
              </a:ext>
            </a:extLst>
          </p:cNvPr>
          <p:cNvSpPr txBox="1"/>
          <p:nvPr/>
        </p:nvSpPr>
        <p:spPr>
          <a:xfrm>
            <a:off x="8503920" y="29260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262626"/>
                </a:solidFill>
              </a:rPr>
              <a:t>of bilateral trade flows in UN Comtrade (since 1962)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7F5C4-E824-C796-BB94-9BA3657C88C2}"/>
              </a:ext>
            </a:extLst>
          </p:cNvPr>
          <p:cNvSpPr txBox="1"/>
          <p:nvPr/>
        </p:nvSpPr>
        <p:spPr>
          <a:xfrm>
            <a:off x="502920" y="4206240"/>
            <a:ext cx="11247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 dirty="0">
                <a:solidFill>
                  <a:srgbClr val="000000"/>
                </a:solidFill>
              </a:rPr>
              <a:t>That's </a:t>
            </a:r>
            <a:r>
              <a:rPr sz="2400" b="1" i="0" dirty="0">
                <a:solidFill>
                  <a:srgbClr val="000000"/>
                </a:solidFill>
              </a:rPr>
              <a:t>millions of rows</a:t>
            </a:r>
            <a:r>
              <a:rPr sz="2400" b="0" i="0" dirty="0">
                <a:solidFill>
                  <a:srgbClr val="000000"/>
                </a:solidFill>
              </a:rPr>
              <a:t> and </a:t>
            </a:r>
            <a:r>
              <a:rPr sz="2400" b="1" i="0" dirty="0">
                <a:solidFill>
                  <a:srgbClr val="000000"/>
                </a:solidFill>
              </a:rPr>
              <a:t>thousands of pages</a:t>
            </a:r>
            <a:r>
              <a:rPr sz="2400" b="0" i="0" dirty="0">
                <a:solidFill>
                  <a:srgbClr val="000000"/>
                </a:solidFill>
              </a:rPr>
              <a:t>. Copy &amp; paste doesn't scale.</a:t>
            </a:r>
          </a:p>
          <a:p>
            <a:pPr algn="l">
              <a:spcAft>
                <a:spcPts val="1000"/>
              </a:spcAft>
            </a:pPr>
            <a:r>
              <a:rPr sz="2400" b="0" i="0" dirty="0">
                <a:solidFill>
                  <a:srgbClr val="000000"/>
                </a:solidFill>
              </a:rPr>
              <a:t>Code makes your research </a:t>
            </a:r>
            <a:r>
              <a:rPr sz="2400" b="1" i="0" dirty="0">
                <a:solidFill>
                  <a:srgbClr val="FF0000"/>
                </a:solidFill>
              </a:rPr>
              <a:t>repeatable</a:t>
            </a:r>
            <a:r>
              <a:rPr sz="2400" b="0" i="0" dirty="0">
                <a:solidFill>
                  <a:srgbClr val="000000"/>
                </a:solidFill>
              </a:rPr>
              <a:t>, </a:t>
            </a:r>
            <a:r>
              <a:rPr sz="2400" b="1" i="0" dirty="0">
                <a:solidFill>
                  <a:srgbClr val="FF0000"/>
                </a:solidFill>
              </a:rPr>
              <a:t>shareable</a:t>
            </a:r>
            <a:r>
              <a:rPr sz="2400" b="0" i="0" dirty="0">
                <a:solidFill>
                  <a:srgbClr val="000000"/>
                </a:solidFill>
              </a:rPr>
              <a:t> and </a:t>
            </a:r>
            <a:r>
              <a:rPr sz="2400" b="1" i="0" dirty="0">
                <a:solidFill>
                  <a:srgbClr val="FF0000"/>
                </a:solidFill>
              </a:rPr>
              <a:t>checkable</a:t>
            </a:r>
            <a:r>
              <a:rPr sz="2400" b="0" i="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012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“But AI can write the code for me…”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02920" y="1313909"/>
            <a:ext cx="868680" cy="86868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533365"/>
            <a:ext cx="429768" cy="429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1277333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AI is built with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79669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595959"/>
                </a:solidFill>
              </a:rPr>
              <a:t>Most of today's AI tools are written in Python. A little Python shows you what is under the hood.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639789"/>
            <a:ext cx="868680" cy="86868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MagnifyingGlass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859245"/>
            <a:ext cx="429768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2603213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AI writes code. You answer for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05549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It produces analysis code in seconds. Your name is on the paper: you need to read and check it.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965669"/>
            <a:ext cx="868680" cy="86868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Gear_FF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4185125"/>
            <a:ext cx="429768" cy="429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00200" y="3929093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AI becomes a tool for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31429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With a few lines of code, a model reads 600 dispute reports. No more pasting them into a chat.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221378"/>
            <a:ext cx="5394960" cy="3886200"/>
          </a:xfrm>
          <a:prstGeom prst="roundRect">
            <a:avLst>
              <a:gd name="adj" fmla="val 352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72400" y="1495698"/>
            <a:ext cx="3703320" cy="548640"/>
          </a:xfrm>
          <a:prstGeom prst="roundRect">
            <a:avLst>
              <a:gd name="adj" fmla="val 33333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1495698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What is the average tariff in my data?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2318658"/>
            <a:ext cx="502920" cy="50292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Robo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100" y="2439358"/>
            <a:ext cx="261518" cy="26151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269480" y="2272938"/>
            <a:ext cx="3703320" cy="132588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52360" y="2364378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Sure! Here is the code: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821578"/>
            <a:ext cx="3337560" cy="594360"/>
          </a:xfrm>
          <a:prstGeom prst="roundRect">
            <a:avLst>
              <a:gd name="adj" fmla="val 923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35240" y="2894730"/>
            <a:ext cx="2971800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onsolas"/>
              </a:rPr>
              <a:t>tariffs["rate"].mean()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3873138"/>
            <a:ext cx="4846320" cy="96012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3873138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0000"/>
                </a:solidFill>
              </a:rPr>
              <a:t>Simple average or trade-weighted?</a:t>
            </a:r>
          </a:p>
          <a:p>
            <a:pPr algn="ctr"/>
            <a:r>
              <a:rPr sz="1700" b="0" i="0">
                <a:solidFill>
                  <a:srgbClr val="000000"/>
                </a:solidFill>
              </a:rPr>
              <a:t>The AI didn't ask. Would you have noticed?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3035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dirty="0">
                <a:solidFill>
                  <a:srgbClr val="000000"/>
                </a:solidFill>
              </a:rPr>
              <a:t>Knowing some code turns AI from a </a:t>
            </a:r>
            <a:r>
              <a:rPr sz="2400" b="1" i="0" dirty="0">
                <a:solidFill>
                  <a:srgbClr val="000000"/>
                </a:solidFill>
              </a:rPr>
              <a:t>black box</a:t>
            </a:r>
            <a:r>
              <a:rPr sz="2400" b="0" i="0" dirty="0">
                <a:solidFill>
                  <a:srgbClr val="000000"/>
                </a:solidFill>
              </a:rPr>
              <a:t> into a </a:t>
            </a:r>
            <a:r>
              <a:rPr sz="2400" b="1" i="0" dirty="0">
                <a:solidFill>
                  <a:srgbClr val="FF0000"/>
                </a:solidFill>
              </a:rPr>
              <a:t>tool you can check</a:t>
            </a:r>
            <a:r>
              <a:rPr sz="2400" b="0" i="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10" grpId="0" animBg="1"/>
      <p:bldP spid="12" grpId="0"/>
      <p:bldP spid="13" grpId="0"/>
      <p:bldP spid="14" grpId="0" animBg="1"/>
      <p:bldP spid="16" grpId="0"/>
      <p:bldP spid="17" grpId="0"/>
      <p:bldP spid="18" grpId="0" animBg="1"/>
      <p:bldP spid="19" grpId="0" animBg="1"/>
      <p:bldP spid="20" grpId="0"/>
      <p:bldP spid="21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Today’s plan (1 h 45)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02920" y="1143000"/>
            <a:ext cx="411480" cy="41148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Ha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" y="1241755"/>
            <a:ext cx="213969" cy="2139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1174891"/>
            <a:ext cx="45720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 dirty="0">
                <a:solidFill>
                  <a:srgbClr val="595959"/>
                </a:solidFill>
              </a:rPr>
              <a:t>Welcome &amp; </a:t>
            </a:r>
            <a:r>
              <a:rPr lang="en-US" sz="2200" b="0" i="0" dirty="0">
                <a:solidFill>
                  <a:srgbClr val="595959"/>
                </a:solidFill>
              </a:rPr>
              <a:t>motivation</a:t>
            </a:r>
            <a:endParaRPr sz="2200" b="0" i="0" dirty="0">
              <a:solidFill>
                <a:srgbClr val="595959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02920" y="1655064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2763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What is Python?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167128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3969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Packages &amp; libraries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679192"/>
            <a:ext cx="411480" cy="41148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MugH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" y="2777947"/>
            <a:ext cx="213969" cy="2139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26517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595959"/>
                </a:solidFill>
              </a:rPr>
              <a:t>Break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191256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16382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uv, the package manager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370332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7588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JupyterLab, your notebook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4215384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18795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Live demo: set it all up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" y="4727448"/>
            <a:ext cx="411480" cy="41148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Lapto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" y="4826203"/>
            <a:ext cx="213969" cy="21396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759339"/>
            <a:ext cx="45720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 dirty="0">
                <a:solidFill>
                  <a:srgbClr val="595959"/>
                </a:solidFill>
              </a:rPr>
              <a:t>Outlook: VS Code</a:t>
            </a:r>
          </a:p>
        </p:txBody>
      </p:sp>
      <p:sp>
        <p:nvSpPr>
          <p:cNvPr id="33" name="Oval 32"/>
          <p:cNvSpPr/>
          <p:nvPr/>
        </p:nvSpPr>
        <p:spPr>
          <a:xfrm>
            <a:off x="502920" y="5239512"/>
            <a:ext cx="411480" cy="41148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FlagCheckere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" y="5338267"/>
            <a:ext cx="213969" cy="21396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97280" y="52120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595959"/>
                </a:solidFill>
              </a:rPr>
              <a:t>Wrap-up &amp; questions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51320" y="1282161"/>
            <a:ext cx="4343400" cy="4480560"/>
          </a:xfrm>
          <a:prstGeom prst="roundRect">
            <a:avLst>
              <a:gd name="adj" fmla="val 3157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71359" y="1712151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0000"/>
                </a:solidFill>
              </a:rPr>
              <a:t>By the end of today you will have…</a:t>
            </a:r>
          </a:p>
        </p:txBody>
      </p:sp>
      <p:pic>
        <p:nvPicPr>
          <p:cNvPr id="39" name="Picture 38" descr="FaCheck_FF0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359" y="2461737"/>
            <a:ext cx="347472" cy="34747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574280" y="2425161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uv installed (and Python with it)</a:t>
            </a:r>
          </a:p>
        </p:txBody>
      </p:sp>
      <p:pic>
        <p:nvPicPr>
          <p:cNvPr id="41" name="Picture 40" descr="FaCheck_FF0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359" y="3238977"/>
            <a:ext cx="347472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574280" y="3202401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your first Python project</a:t>
            </a:r>
          </a:p>
        </p:txBody>
      </p:sp>
      <p:pic>
        <p:nvPicPr>
          <p:cNvPr id="43" name="Picture 42" descr="FaCheck_FF0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359" y="4016217"/>
            <a:ext cx="347472" cy="34747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574280" y="3979641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JupyterLab open in your browser</a:t>
            </a:r>
          </a:p>
        </p:txBody>
      </p:sp>
      <p:pic>
        <p:nvPicPr>
          <p:cNvPr id="45" name="Picture 44" descr="FaCheck_FF0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359" y="4793457"/>
            <a:ext cx="347472" cy="34747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574280" y="4756881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run your first notebook cell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40" grpId="0"/>
      <p:bldP spid="42" grpId="0"/>
      <p:bldP spid="44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914400"/>
          </a:xfrm>
        </p:spPr>
        <p:txBody>
          <a:bodyPr anchor="b"/>
          <a:lstStyle/>
          <a:p>
            <a:pPr algn="ctr"/>
            <a:r>
              <a:rPr sz="5400" b="1">
                <a:solidFill>
                  <a:srgbClr val="000000"/>
                </a:solidFill>
                <a:latin typeface="+mn-lt"/>
              </a:rPr>
              <a:t>Part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pic>
        <p:nvPicPr>
          <p:cNvPr id="6" name="Picture 5" descr="SiPython_3776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384" y="123444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0000"/>
                </a:solidFill>
              </a:rPr>
              <a:t>What is Python?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1">
                <a:solidFill>
                  <a:srgbClr val="595959"/>
                </a:solidFill>
              </a:rPr>
              <a:t>…and why is it named after a comedy show?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A program is a recipe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5120640" cy="3291840"/>
          </a:xfrm>
          <a:prstGeom prst="roundRect">
            <a:avLst>
              <a:gd name="adj" fmla="val 416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0000"/>
                </a:solidFill>
              </a:rPr>
              <a:t>In plain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663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</a:rPr>
              <a:t>1. Take the import value: 2,500,000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</a:rPr>
              <a:t>2. Take the tariff rate: 12 %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</a:rPr>
              <a:t>3. Multiply them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</a:rPr>
              <a:t>4. Tell me the result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60720" y="2606040"/>
            <a:ext cx="548640" cy="45720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6520" y="1188720"/>
            <a:ext cx="5303520" cy="3291840"/>
          </a:xfrm>
          <a:prstGeom prst="roundRect">
            <a:avLst>
              <a:gd name="adj" fmla="val 416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3716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0000"/>
                </a:solidFill>
              </a:rPr>
              <a:t>In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96596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import_value = 2_500_000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tariff_rate = 0.12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duty = import_value * tariff_rate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print(duty)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749039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7F7F7F"/>
                </a:solidFill>
                <a:latin typeface="Consolas"/>
              </a:rPr>
              <a:t>Output: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 </a:t>
            </a:r>
            <a:r>
              <a:rPr sz="1800" b="1" i="0">
                <a:solidFill>
                  <a:srgbClr val="FF0000"/>
                </a:solidFill>
                <a:latin typeface="Consolas"/>
              </a:rPr>
              <a:t>300000.0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0060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</a:rPr>
              <a:t>A computer is a </a:t>
            </a:r>
            <a:r>
              <a:rPr sz="2200" b="1" i="0">
                <a:solidFill>
                  <a:srgbClr val="000000"/>
                </a:solidFill>
              </a:rPr>
              <a:t>very fast, very literal</a:t>
            </a:r>
            <a:r>
              <a:rPr sz="2200" b="0" i="0">
                <a:solidFill>
                  <a:srgbClr val="000000"/>
                </a:solidFill>
              </a:rPr>
              <a:t> research assistant: it does </a:t>
            </a:r>
            <a:r>
              <a:rPr sz="2200" b="1" i="0">
                <a:solidFill>
                  <a:srgbClr val="FF0000"/>
                </a:solidFill>
              </a:rPr>
              <a:t>exactly</a:t>
            </a:r>
            <a:r>
              <a:rPr sz="2200" b="0" i="0">
                <a:solidFill>
                  <a:srgbClr val="000000"/>
                </a:solidFill>
              </a:rPr>
              <a:t> what you write. Nothing more, nothing less.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Python reads (almost) like English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6400800" cy="2148840"/>
          </a:xfrm>
          <a:prstGeom prst="roundRect">
            <a:avLst>
              <a:gd name="adj" fmla="val 6382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6692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Consolas"/>
              </a:rPr>
              <a:t>countries = ["Chile", "Kenya", "Japan"]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Consolas"/>
              </a:rPr>
              <a:t>for country in countries: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Consolas"/>
              </a:rPr>
              <a:t>    print("Hello from", country)</a:t>
            </a:r>
          </a:p>
        </p:txBody>
      </p:sp>
      <p:sp>
        <p:nvSpPr>
          <p:cNvPr id="8" name="Oval 7"/>
          <p:cNvSpPr/>
          <p:nvPr/>
        </p:nvSpPr>
        <p:spPr>
          <a:xfrm>
            <a:off x="6537960" y="1426464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6537960" y="2011679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537960" y="2304287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7F7F7F"/>
                </a:solidFill>
              </a:rPr>
              <a:t>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6400800" cy="1234440"/>
          </a:xfrm>
          <a:prstGeom prst="roundRect">
            <a:avLst>
              <a:gd name="adj" fmla="val 4444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59352"/>
            <a:ext cx="6035040" cy="1088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D4D4D4"/>
                </a:solidFill>
                <a:latin typeface="Consolas"/>
              </a:rPr>
              <a:t>Hello from Chile</a:t>
            </a:r>
          </a:p>
          <a:p>
            <a:pPr algn="l"/>
            <a:r>
              <a:rPr sz="1800" b="0" i="0">
                <a:solidFill>
                  <a:srgbClr val="D4D4D4"/>
                </a:solidFill>
                <a:latin typeface="Consolas"/>
              </a:rPr>
              <a:t>Hello from Kenya</a:t>
            </a:r>
          </a:p>
          <a:p>
            <a:pPr algn="l"/>
            <a:r>
              <a:rPr sz="1800" b="0" i="0">
                <a:solidFill>
                  <a:srgbClr val="D4D4D4"/>
                </a:solidFill>
                <a:latin typeface="Consolas"/>
              </a:rPr>
              <a:t>Hello from Japan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123444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18872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A </a:t>
            </a:r>
            <a:r>
              <a:rPr sz="2000" b="1" i="0">
                <a:solidFill>
                  <a:srgbClr val="000000"/>
                </a:solidFill>
              </a:rPr>
              <a:t>list</a:t>
            </a:r>
            <a:r>
              <a:rPr sz="2000" b="0" i="0">
                <a:solidFill>
                  <a:srgbClr val="000000"/>
                </a:solidFill>
              </a:rPr>
              <a:t>: several values in one box, inside [square brackets]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242316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A </a:t>
            </a:r>
            <a:r>
              <a:rPr sz="2000" b="1" i="0">
                <a:solidFill>
                  <a:srgbClr val="000000"/>
                </a:solidFill>
              </a:rPr>
              <a:t>loop</a:t>
            </a:r>
            <a:r>
              <a:rPr sz="2000" b="0" i="0">
                <a:solidFill>
                  <a:srgbClr val="000000"/>
                </a:solidFill>
              </a:rPr>
              <a:t>: do the same thing for each item of the list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361188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56616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Indentation</a:t>
            </a:r>
            <a:r>
              <a:rPr sz="2000" b="0" i="0">
                <a:solidFill>
                  <a:srgbClr val="000000"/>
                </a:solidFill>
              </a:rPr>
              <a:t> (4 spaces) means “this line belongs to the loop”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272" y="5257800"/>
            <a:ext cx="652054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595959"/>
                </a:solidFill>
              </a:rPr>
              <a:t>No semicolons, no curly braces: just words and spaces.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Meet Python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pic>
        <p:nvPicPr>
          <p:cNvPr id="6" name="Picture 5" descr="SiPython_3776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508760"/>
            <a:ext cx="292608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6344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595959"/>
                </a:solidFill>
              </a:rPr>
              <a:t>python.org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1234440"/>
            <a:ext cx="777240" cy="77724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Lightbulb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41732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06440" y="1188720"/>
            <a:ext cx="5943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1991</a:t>
            </a:r>
            <a:r>
              <a:rPr sz="2000" b="0" i="0">
                <a:solidFill>
                  <a:srgbClr val="000000"/>
                </a:solidFill>
              </a:rPr>
              <a:t>: created by Guido van Rossum, a Dutch programmer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2331720"/>
            <a:ext cx="777240" cy="77724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Users_FF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514600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06440" y="2286000"/>
            <a:ext cx="5943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Free &amp; open source</a:t>
            </a:r>
            <a:r>
              <a:rPr sz="2000" b="0" i="0">
                <a:solidFill>
                  <a:srgbClr val="000000"/>
                </a:solidFill>
              </a:rPr>
              <a:t>: built and maintained by a worldwide community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3429000"/>
            <a:ext cx="777240" cy="77724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CirclePlay_FF0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611880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06440" y="3383280"/>
            <a:ext cx="5943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000000"/>
                </a:solidFill>
              </a:rPr>
              <a:t>Named after </a:t>
            </a:r>
            <a:r>
              <a:rPr sz="2000" b="1" i="0" dirty="0">
                <a:solidFill>
                  <a:srgbClr val="FF0000"/>
                </a:solidFill>
              </a:rPr>
              <a:t>Monty Python’s Flying Circus</a:t>
            </a:r>
            <a:r>
              <a:rPr sz="2000" b="0" i="0" dirty="0">
                <a:solidFill>
                  <a:srgbClr val="000000"/>
                </a:solidFill>
              </a:rPr>
              <a:t>, not the snake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4526279"/>
            <a:ext cx="777240" cy="77724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Globe_FF0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709159"/>
            <a:ext cx="41148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06440" y="4480559"/>
            <a:ext cx="5943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Used at Google, NASA, Netflix… and in most data-science and AI work today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What can Python do for your PhD?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Table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6304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20" y="1435608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Clean &amp; merge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Combine tariff schedules, trade flows and country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</a:rPr>
              <a:t>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88720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ChartColumn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46304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57800" y="1435608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Visualise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Publication-ready charts and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3464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</a:rPr>
              <a:t>matplotlib, seaborn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188720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ScaleBalanced_FF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46304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98280" y="1435608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Analyse legal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05740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Search and compare hundreds of dispute reports or treaties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3464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</a:rPr>
              <a:t>re, spaCy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39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Spider_FF0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94759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17320" y="3767327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Collect web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8912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Download data automatically instead of clicking 200 times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66359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</a:rPr>
              <a:t>requests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520439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aCalculator_FF0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794759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57800" y="3767327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Econometrics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38912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Regressions, panel data, gravity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166359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</a:rPr>
              <a:t>statsmodels, pyfixest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520439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aRobot_FF000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3794759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98280" y="3767327"/>
            <a:ext cx="2514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Automate the boring stuff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38912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Rename 500 PDFs, fill templates, call AI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166359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</a:rPr>
              <a:t>pathlib, openai…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 dirty="0">
                <a:solidFill>
                  <a:srgbClr val="000000"/>
                </a:solidFill>
                <a:latin typeface="+mn-lt"/>
              </a:rPr>
              <a:t>Myth vs. </a:t>
            </a:r>
            <a:r>
              <a:rPr lang="en-US" sz="4000" b="1" dirty="0">
                <a:solidFill>
                  <a:srgbClr val="000000"/>
                </a:solidFill>
                <a:latin typeface="+mn-lt"/>
              </a:rPr>
              <a:t>F</a:t>
            </a:r>
            <a:r>
              <a:rPr sz="4000" b="1" dirty="0">
                <a:solidFill>
                  <a:srgbClr val="000000"/>
                </a:solidFill>
                <a:latin typeface="+mn-lt"/>
              </a:rPr>
              <a:t>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058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Myth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058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0000"/>
                </a:solidFill>
              </a:rPr>
              <a:t>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120640" cy="868680"/>
          </a:xfrm>
          <a:prstGeom prst="roundRect">
            <a:avLst>
              <a:gd name="adj" fmla="val 1578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Xmark_7F7F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155448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595959"/>
                </a:solidFill>
              </a:rPr>
              <a:t>“I have to be good at maths.”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33288" y="1828800"/>
            <a:ext cx="411480" cy="32004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864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10512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1554480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You need </a:t>
            </a:r>
            <a:r>
              <a:rPr sz="1800" b="1" i="0">
                <a:solidFill>
                  <a:srgbClr val="000000"/>
                </a:solidFill>
              </a:rPr>
              <a:t>logic</a:t>
            </a:r>
            <a:r>
              <a:rPr sz="1800" b="0" i="0">
                <a:solidFill>
                  <a:srgbClr val="000000"/>
                </a:solidFill>
              </a:rPr>
              <a:t>, not calculus. Most code is: load, filter, count, plot.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39"/>
            <a:ext cx="5120640" cy="868680"/>
          </a:xfrm>
          <a:prstGeom prst="roundRect">
            <a:avLst>
              <a:gd name="adj" fmla="val 1578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Xmark_7F7F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62072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2606039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595959"/>
                </a:solidFill>
              </a:rPr>
              <a:t>“I might break my computer.”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33288" y="2880359"/>
            <a:ext cx="411480" cy="32004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63640" y="2606039"/>
            <a:ext cx="54864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862072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2606039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You won't. The worst case is an </a:t>
            </a:r>
            <a:r>
              <a:rPr sz="1800" b="1" i="0">
                <a:solidFill>
                  <a:srgbClr val="000000"/>
                </a:solidFill>
              </a:rPr>
              <a:t>error message</a:t>
            </a:r>
            <a:r>
              <a:rPr sz="1800" b="0" i="0">
                <a:solidFill>
                  <a:srgbClr val="000000"/>
                </a:solidFill>
              </a:rPr>
              <a:t>, and errors are clues.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57600"/>
            <a:ext cx="5120640" cy="868680"/>
          </a:xfrm>
          <a:prstGeom prst="roundRect">
            <a:avLst>
              <a:gd name="adj" fmla="val 1578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Xmark_7F7F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13632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0160" y="365760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595959"/>
                </a:solidFill>
              </a:rPr>
              <a:t>“Real programmers know it all by heart.”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733288" y="3931920"/>
            <a:ext cx="411480" cy="32004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63640" y="3657600"/>
            <a:ext cx="54864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3632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40880" y="3657600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Everyone </a:t>
            </a:r>
            <a:r>
              <a:rPr sz="1800" b="1" i="0">
                <a:solidFill>
                  <a:srgbClr val="000000"/>
                </a:solidFill>
              </a:rPr>
              <a:t>searches</a:t>
            </a:r>
            <a:r>
              <a:rPr sz="1800" b="0" i="0">
                <a:solidFill>
                  <a:srgbClr val="000000"/>
                </a:solidFill>
              </a:rPr>
              <a:t> and asks AI. Reading docs is the real skill.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709159"/>
            <a:ext cx="5120640" cy="868680"/>
          </a:xfrm>
          <a:prstGeom prst="roundRect">
            <a:avLst>
              <a:gd name="adj" fmla="val 1578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Xmark_7F7F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65192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80160" y="4709159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595959"/>
                </a:solidFill>
              </a:rPr>
              <a:t>“It's too late for me to start.”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733288" y="4983479"/>
            <a:ext cx="411480" cy="32004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63640" y="4709159"/>
            <a:ext cx="54864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965192"/>
            <a:ext cx="365760" cy="365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40880" y="4709159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You only need a </a:t>
            </a:r>
            <a:r>
              <a:rPr sz="1800" b="1" i="0">
                <a:solidFill>
                  <a:srgbClr val="000000"/>
                </a:solidFill>
              </a:rPr>
              <a:t>small part</a:t>
            </a:r>
            <a:r>
              <a:rPr sz="1800" b="0" i="0">
                <a:solidFill>
                  <a:srgbClr val="000000"/>
                </a:solidFill>
              </a:rPr>
              <a:t> of Python to be productive.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914400"/>
          </a:xfrm>
        </p:spPr>
        <p:txBody>
          <a:bodyPr anchor="b"/>
          <a:lstStyle/>
          <a:p>
            <a:pPr algn="ctr"/>
            <a:r>
              <a:rPr sz="5400" b="1">
                <a:solidFill>
                  <a:srgbClr val="000000"/>
                </a:solidFill>
                <a:latin typeface="+mn-lt"/>
              </a:rPr>
              <a:t>Part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pic>
        <p:nvPicPr>
          <p:cNvPr id="6" name="Picture 5" descr="FaBoxOpen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384" y="123444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0000"/>
                </a:solidFill>
              </a:rPr>
              <a:t>Packages &amp; libraries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1">
                <a:solidFill>
                  <a:srgbClr val="595959"/>
                </a:solidFill>
              </a:rPr>
              <a:t>…or: why you will never code a regression from scratch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 dirty="0">
                <a:solidFill>
                  <a:srgbClr val="000000"/>
                </a:solidFill>
                <a:latin typeface="+mn-lt"/>
              </a:rPr>
              <a:t>Python is a phone. Packages are apps.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88720" y="1143000"/>
            <a:ext cx="2377440" cy="3931920"/>
          </a:xfrm>
          <a:prstGeom prst="roundRect">
            <a:avLst>
              <a:gd name="adj" fmla="val 13461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25880" y="1417320"/>
            <a:ext cx="2103120" cy="3383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iPython_3776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19" y="1828800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29718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429000"/>
            <a:ext cx="1920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</a:rPr>
              <a:t>comes with the basics:</a:t>
            </a:r>
          </a:p>
          <a:p>
            <a:pPr algn="ctr"/>
            <a:r>
              <a:rPr sz="1400" b="0" i="0">
                <a:solidFill>
                  <a:srgbClr val="595959"/>
                </a:solidFill>
              </a:rPr>
              <a:t>maths, dates, files…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251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7F7F7F"/>
                </a:solidFill>
              </a:rPr>
              <a:t>“standard library”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2643051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dirty="0">
                <a:solidFill>
                  <a:srgbClr val="FF0000"/>
                </a:solidFill>
              </a:rPr>
              <a:t> install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97679" y="2926080"/>
            <a:ext cx="1097280" cy="5029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35040" y="1325880"/>
            <a:ext cx="1280160" cy="128016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iPandas_1504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7" y="1572768"/>
            <a:ext cx="786384" cy="7863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0" y="2679191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pandas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325880"/>
            <a:ext cx="1280160" cy="128016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iNumpy_0132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727" y="1572768"/>
            <a:ext cx="786384" cy="7863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9519" y="2679191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numpy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325880"/>
            <a:ext cx="1280160" cy="128016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iJupyter_F376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1572768"/>
            <a:ext cx="786384" cy="7863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18319" y="2679191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Jupyter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337560"/>
            <a:ext cx="1280160" cy="128016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SiPlotly_3F4F7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7" y="3584448"/>
            <a:ext cx="786384" cy="7863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60720" y="46908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plotly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337560"/>
            <a:ext cx="1280160" cy="128016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iScikitlearn_F7931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0727" y="3584448"/>
            <a:ext cx="786384" cy="7863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89519" y="46908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scikit-learn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3337560"/>
            <a:ext cx="1280160" cy="128016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0" y="333756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0000"/>
                </a:solidFill>
              </a:rPr>
              <a:t>+600k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46908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and more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4924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</a:rPr>
              <a:t>Someone already built, tested and documented it. You just </a:t>
            </a:r>
            <a:r>
              <a:rPr sz="2000" b="1" i="0" dirty="0">
                <a:solidFill>
                  <a:srgbClr val="FF0000"/>
                </a:solidFill>
              </a:rPr>
              <a:t>install</a:t>
            </a:r>
            <a:r>
              <a:rPr sz="2000" b="0" i="0" dirty="0">
                <a:solidFill>
                  <a:srgbClr val="000000"/>
                </a:solidFill>
              </a:rPr>
              <a:t> it and </a:t>
            </a:r>
            <a:r>
              <a:rPr sz="2000" b="1" i="0" dirty="0">
                <a:solidFill>
                  <a:srgbClr val="FF0000"/>
                </a:solidFill>
              </a:rPr>
              <a:t>use</a:t>
            </a:r>
            <a:r>
              <a:rPr sz="2000" b="0" i="0" dirty="0">
                <a:solidFill>
                  <a:srgbClr val="000000"/>
                </a:solidFill>
              </a:rPr>
              <a:t>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6" grpId="0"/>
      <p:bldP spid="17" grpId="0" animBg="1"/>
      <p:bldP spid="19" grpId="0"/>
      <p:bldP spid="20" grpId="0" animBg="1"/>
      <p:bldP spid="22" grpId="0"/>
      <p:bldP spid="23" grpId="0" animBg="1"/>
      <p:bldP spid="25" grpId="0"/>
      <p:bldP spid="26" grpId="0" animBg="1"/>
      <p:bldP spid="28" grpId="0"/>
      <p:bldP spid="29" grpId="0" animBg="1"/>
      <p:bldP spid="30" grpId="0"/>
      <p:bldP spid="31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Module, package, library: what's the difference?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FileCode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1732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4173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One </a:t>
            </a:r>
            <a:r>
              <a:rPr sz="1800" b="1" i="0">
                <a:solidFill>
                  <a:srgbClr val="000000"/>
                </a:solidFill>
              </a:rPr>
              <a:t>.py file</a:t>
            </a:r>
            <a:r>
              <a:rPr sz="1800" b="0" i="0">
                <a:solidFill>
                  <a:srgbClr val="000000"/>
                </a:solidFill>
              </a:rPr>
              <a:t> with code in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7F7F7F"/>
                </a:solidFill>
                <a:latin typeface="Consolas"/>
              </a:rPr>
              <a:t>main.py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39" y="2514600"/>
            <a:ext cx="365760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118872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BoxOpen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59" y="1417320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40679" y="14173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19456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A </a:t>
            </a:r>
            <a:r>
              <a:rPr sz="1800" b="1" i="0">
                <a:solidFill>
                  <a:srgbClr val="000000"/>
                </a:solidFill>
              </a:rPr>
              <a:t>folder of modules</a:t>
            </a:r>
            <a:r>
              <a:rPr sz="1800" b="0" i="0">
                <a:solidFill>
                  <a:srgbClr val="000000"/>
                </a:solidFill>
              </a:rPr>
              <a:t> that you can install and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6118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7F7F7F"/>
                </a:solidFill>
                <a:latin typeface="Consolas"/>
              </a:rPr>
              <a:t>pandas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09559" y="2514600"/>
            <a:ext cx="365760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66760" y="118872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Book_FF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1417320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72600" y="14173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19456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Loose word for </a:t>
            </a:r>
            <a:r>
              <a:rPr sz="1800" b="1" i="0">
                <a:solidFill>
                  <a:srgbClr val="000000"/>
                </a:solidFill>
              </a:rPr>
              <a:t>reusable code</a:t>
            </a:r>
            <a:r>
              <a:rPr sz="1800" b="0" i="0">
                <a:solidFill>
                  <a:srgbClr val="000000"/>
                </a:solidFill>
              </a:rPr>
              <a:t>. In practice: package ≈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6118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7F7F7F"/>
                </a:solidFill>
                <a:latin typeface="Consolas"/>
              </a:rPr>
              <a:t>“the pandas library”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11247120" cy="1188720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SiPypi_3775A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663440"/>
            <a:ext cx="822960" cy="822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28800" y="457200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PyPI</a:t>
            </a:r>
            <a:r>
              <a:rPr sz="2000" b="0" i="0">
                <a:solidFill>
                  <a:srgbClr val="000000"/>
                </a:solidFill>
              </a:rPr>
              <a:t>, the Python Package Index (pypi.org), is the “app store”: </a:t>
            </a:r>
            <a:r>
              <a:rPr sz="2000" b="1" i="0">
                <a:solidFill>
                  <a:srgbClr val="FF0000"/>
                </a:solidFill>
              </a:rPr>
              <a:t>600,000+</a:t>
            </a:r>
            <a:r>
              <a:rPr sz="2000" b="0" i="0">
                <a:solidFill>
                  <a:srgbClr val="000000"/>
                </a:solidFill>
              </a:rPr>
              <a:t> free packages.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Anyone can publish there, so stick to well-known, well-maintained packages.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Popular packages for researchers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iPandas_1504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63040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146304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onsolas"/>
              </a:rP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Tables (“data frames”): like Excel, but for millions of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iNumpy_0132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46304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77840" y="146304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onsolas"/>
              </a:rPr>
              <a:t>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Fast maths on large arrays of numbers: the engine under pandas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188720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ChartLine_FF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463040"/>
            <a:ext cx="731520" cy="731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18320" y="146304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onsolas"/>
              </a:rPr>
              <a:t>matplotlib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7744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Charts of every kind, ready for publication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20439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Calculator_FF0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94759"/>
            <a:ext cx="731520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37360" y="3794759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onsolas"/>
              </a:rPr>
              <a:t>statsmodels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59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Regressions and econometrics, with Stata-like output tables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520439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iJupyter_F3762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794759"/>
            <a:ext cx="731520" cy="7315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0" y="3794759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onsolas"/>
              </a:rPr>
              <a:t>Jupyter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709159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Notebooks: code, text and charts together in one document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520439"/>
            <a:ext cx="3566160" cy="2103120"/>
          </a:xfrm>
          <a:prstGeom prst="roundRect">
            <a:avLst>
              <a:gd name="adj" fmla="val 652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iScikitlearn_F7931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3794759"/>
            <a:ext cx="731520" cy="731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18320" y="3794759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onsolas"/>
              </a:rPr>
              <a:t>scikit-learn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709159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Machine learning: classification, clustering, prediction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Using a package: install once, import every time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02920" y="118872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61288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Install</a:t>
            </a:r>
            <a:r>
              <a:rPr sz="2000" b="0" i="0">
                <a:solidFill>
                  <a:srgbClr val="000000"/>
                </a:solidFill>
              </a:rPr>
              <a:t> it once per project, in the terminal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73736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810512"/>
            <a:ext cx="5212079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onsolas"/>
              </a:rPr>
              <a:t>uv add pandas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Import</a:t>
            </a:r>
            <a:r>
              <a:rPr sz="2000" b="0" i="0">
                <a:solidFill>
                  <a:srgbClr val="000000"/>
                </a:solidFill>
              </a:rPr>
              <a:t> it at the top of your script, then use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154680"/>
            <a:ext cx="55778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356401"/>
            <a:ext cx="5212079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dirty="0">
                <a:solidFill>
                  <a:srgbClr val="262626"/>
                </a:solidFill>
                <a:latin typeface="Consolas"/>
              </a:rPr>
              <a:t>import pandas</a:t>
            </a:r>
          </a:p>
          <a:p>
            <a:pPr algn="l"/>
            <a:r>
              <a:rPr sz="1800" b="0" i="0" dirty="0">
                <a:solidFill>
                  <a:srgbClr val="262626"/>
                </a:solidFill>
                <a:latin typeface="Consolas"/>
              </a:rPr>
              <a:t>tariffs = 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p</a:t>
            </a:r>
            <a:r>
              <a:rPr lang="en-US" sz="1800" b="0" i="0" dirty="0" err="1">
                <a:solidFill>
                  <a:srgbClr val="262626"/>
                </a:solidFill>
                <a:latin typeface="Consolas"/>
              </a:rPr>
              <a:t>an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d</a:t>
            </a:r>
            <a:r>
              <a:rPr lang="en-US" sz="1800" b="0" i="0" dirty="0" err="1">
                <a:solidFill>
                  <a:srgbClr val="262626"/>
                </a:solidFill>
                <a:latin typeface="Consolas"/>
              </a:rPr>
              <a:t>as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.read_csv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("tariffs.csv")</a:t>
            </a:r>
          </a:p>
          <a:p>
            <a:pPr algn="l"/>
            <a:r>
              <a:rPr sz="1800" b="0" i="0" dirty="0">
                <a:solidFill>
                  <a:srgbClr val="262626"/>
                </a:solidFill>
                <a:latin typeface="Consolas"/>
              </a:rPr>
              <a:t>print(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tariffs.head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())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16128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What you get: a table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132320" y="1737360"/>
          <a:ext cx="461772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onsolas"/>
                        </a:rPr>
                        <a:t>reporter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onsolas"/>
                        </a:rPr>
                        <a:t>partner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onsolas"/>
                        </a:rPr>
                        <a:t>hs6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onsolas"/>
                        </a:rPr>
                        <a:t>tariff_%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090111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EU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060311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JPN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CHL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030214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132320" y="36118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</a:rPr>
              <a:t>Illustrative, made-up numbers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450DF-AEA2-B52C-33D5-8EFF29E2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0EF8-C7F5-AD37-0410-62EB42BD8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Using a package: install once, import every time</a:t>
            </a: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D57F878-0B35-ED1C-8826-BFF4188D7CF5}"/>
              </a:ext>
            </a:extLst>
          </p:cNvPr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F71EEC5-4C10-6313-606B-611616F9BA5A}"/>
              </a:ext>
            </a:extLst>
          </p:cNvPr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>
            <a:extLst>
              <a:ext uri="{FF2B5EF4-FFF2-40B4-BE49-F238E27FC236}">
                <a16:creationId xmlns:a16="http://schemas.microsoft.com/office/drawing/2014/main" id="{62AFAE18-F755-C1AE-B8E2-DABFD8B2A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0510BDC-411E-15E4-68AA-0E57959930FA}"/>
              </a:ext>
            </a:extLst>
          </p:cNvPr>
          <p:cNvSpPr/>
          <p:nvPr/>
        </p:nvSpPr>
        <p:spPr>
          <a:xfrm>
            <a:off x="502920" y="118872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279A9-AFB3-7CA9-9CB9-5F188CB98941}"/>
              </a:ext>
            </a:extLst>
          </p:cNvPr>
          <p:cNvSpPr txBox="1"/>
          <p:nvPr/>
        </p:nvSpPr>
        <p:spPr>
          <a:xfrm>
            <a:off x="1097280" y="1161288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Install</a:t>
            </a:r>
            <a:r>
              <a:rPr sz="2000" b="0" i="0">
                <a:solidFill>
                  <a:srgbClr val="000000"/>
                </a:solidFill>
              </a:rPr>
              <a:t> it once per project, in the terminal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B609FF-2C6C-9041-1D46-6BA9AFCDCCF9}"/>
              </a:ext>
            </a:extLst>
          </p:cNvPr>
          <p:cNvSpPr/>
          <p:nvPr/>
        </p:nvSpPr>
        <p:spPr>
          <a:xfrm>
            <a:off x="1097280" y="173736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129AA-1CFB-D26C-0860-D68DB9D861EC}"/>
              </a:ext>
            </a:extLst>
          </p:cNvPr>
          <p:cNvSpPr txBox="1"/>
          <p:nvPr/>
        </p:nvSpPr>
        <p:spPr>
          <a:xfrm>
            <a:off x="1280160" y="1810512"/>
            <a:ext cx="5212079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onsolas"/>
              </a:rPr>
              <a:t>uv add pandas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4C6E1E-0AD3-8308-E1D4-F93D3B73A6E4}"/>
              </a:ext>
            </a:extLst>
          </p:cNvPr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AAE85-002D-7845-F3C0-662C0AC6F4DE}"/>
              </a:ext>
            </a:extLst>
          </p:cNvPr>
          <p:cNvSpPr txBox="1"/>
          <p:nvPr/>
        </p:nvSpPr>
        <p:spPr>
          <a:xfrm>
            <a:off x="1097280" y="2578608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Import</a:t>
            </a:r>
            <a:r>
              <a:rPr sz="2000" b="0" i="0">
                <a:solidFill>
                  <a:srgbClr val="000000"/>
                </a:solidFill>
              </a:rPr>
              <a:t> it at the top of your script, then use it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3E2871-1BB9-CEA7-F6AC-1909EFF2E41D}"/>
              </a:ext>
            </a:extLst>
          </p:cNvPr>
          <p:cNvSpPr/>
          <p:nvPr/>
        </p:nvSpPr>
        <p:spPr>
          <a:xfrm>
            <a:off x="1097280" y="3154680"/>
            <a:ext cx="55778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B012EE-C223-0241-C01B-1BDBA2601BC0}"/>
              </a:ext>
            </a:extLst>
          </p:cNvPr>
          <p:cNvSpPr txBox="1"/>
          <p:nvPr/>
        </p:nvSpPr>
        <p:spPr>
          <a:xfrm>
            <a:off x="1280160" y="3356401"/>
            <a:ext cx="5212079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dirty="0">
                <a:solidFill>
                  <a:srgbClr val="262626"/>
                </a:solidFill>
                <a:latin typeface="Consolas"/>
              </a:rPr>
              <a:t>import pandas </a:t>
            </a:r>
            <a:r>
              <a:rPr sz="1800" b="0" i="0" dirty="0">
                <a:solidFill>
                  <a:srgbClr val="FF0000"/>
                </a:solidFill>
                <a:latin typeface="Consolas"/>
              </a:rPr>
              <a:t>as pd</a:t>
            </a:r>
          </a:p>
          <a:p>
            <a:pPr algn="l"/>
            <a:r>
              <a:rPr sz="1800" b="0" i="0" dirty="0">
                <a:solidFill>
                  <a:srgbClr val="262626"/>
                </a:solidFill>
                <a:latin typeface="Consolas"/>
              </a:rPr>
              <a:t>tariffs = </a:t>
            </a:r>
            <a:r>
              <a:rPr sz="1800" b="0" i="0" dirty="0" err="1">
                <a:solidFill>
                  <a:srgbClr val="FF0000"/>
                </a:solidFill>
                <a:latin typeface="Consolas"/>
              </a:rPr>
              <a:t>pd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.read_csv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("tariffs.csv")</a:t>
            </a:r>
          </a:p>
          <a:p>
            <a:pPr algn="l"/>
            <a:r>
              <a:rPr sz="1800" b="0" i="0" dirty="0">
                <a:solidFill>
                  <a:srgbClr val="262626"/>
                </a:solidFill>
                <a:latin typeface="Consolas"/>
              </a:rPr>
              <a:t>print(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tariffs.head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())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8A55E0-B7EC-81B6-B2B5-D47164B19B39}"/>
              </a:ext>
            </a:extLst>
          </p:cNvPr>
          <p:cNvSpPr txBox="1"/>
          <p:nvPr/>
        </p:nvSpPr>
        <p:spPr>
          <a:xfrm>
            <a:off x="1097279" y="4617720"/>
            <a:ext cx="631589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onsolas"/>
              </a:rPr>
              <a:t>“as pd”</a:t>
            </a:r>
            <a:r>
              <a:rPr sz="1600" b="0" i="0" dirty="0">
                <a:solidFill>
                  <a:srgbClr val="595959"/>
                </a:solidFill>
              </a:rPr>
              <a:t> gives pandas a nickname, so we can type </a:t>
            </a:r>
            <a:r>
              <a:rPr sz="1600" b="0" i="0" dirty="0">
                <a:solidFill>
                  <a:srgbClr val="595959"/>
                </a:solidFill>
                <a:latin typeface="Consolas"/>
              </a:rPr>
              <a:t>pd</a:t>
            </a:r>
            <a:r>
              <a:rPr sz="1600" b="0" i="0" dirty="0">
                <a:solidFill>
                  <a:srgbClr val="595959"/>
                </a:solidFill>
              </a:rPr>
              <a:t> instead of </a:t>
            </a:r>
            <a:r>
              <a:rPr sz="1600" b="0" i="0" dirty="0">
                <a:solidFill>
                  <a:srgbClr val="595959"/>
                </a:solidFill>
                <a:latin typeface="Consolas"/>
              </a:rPr>
              <a:t>pandas</a:t>
            </a:r>
            <a:r>
              <a:rPr sz="1600" b="0" i="0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F8EC03-4353-3F0A-A539-2F31C4A73A9D}"/>
              </a:ext>
            </a:extLst>
          </p:cNvPr>
          <p:cNvSpPr txBox="1"/>
          <p:nvPr/>
        </p:nvSpPr>
        <p:spPr>
          <a:xfrm>
            <a:off x="7132320" y="116128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What you get: a table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D756E37-C948-0689-66F9-002BCED449EF}"/>
              </a:ext>
            </a:extLst>
          </p:cNvPr>
          <p:cNvGraphicFramePr>
            <a:graphicFrameLocks noGrp="1"/>
          </p:cNvGraphicFramePr>
          <p:nvPr/>
        </p:nvGraphicFramePr>
        <p:xfrm>
          <a:off x="7132320" y="1737360"/>
          <a:ext cx="461772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onsolas"/>
                        </a:rPr>
                        <a:t>reporter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onsolas"/>
                        </a:rPr>
                        <a:t>partner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onsolas"/>
                        </a:rPr>
                        <a:t>hs6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onsolas"/>
                        </a:rPr>
                        <a:t>tariff_%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090111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EU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060311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JPN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CHL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030214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onsolas"/>
                        </a:rP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908BA71-D916-3DB9-E310-573CB9873042}"/>
              </a:ext>
            </a:extLst>
          </p:cNvPr>
          <p:cNvSpPr txBox="1"/>
          <p:nvPr/>
        </p:nvSpPr>
        <p:spPr>
          <a:xfrm>
            <a:off x="7132320" y="36118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</a:rPr>
              <a:t>Illustrative, made-up numbers</a:t>
            </a:r>
          </a:p>
        </p:txBody>
      </p:sp>
    </p:spTree>
    <p:extLst>
      <p:ext uri="{BB962C8B-B14F-4D97-AF65-F5344CB8AC3E}">
        <p14:creationId xmlns:p14="http://schemas.microsoft.com/office/powerpoint/2010/main" val="298801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The catch: packages need other packages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2834640"/>
            <a:ext cx="1783080" cy="64008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your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834640"/>
            <a:ext cx="1371600" cy="64008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onsolas"/>
              </a:rPr>
              <a:t>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00200"/>
            <a:ext cx="2148840" cy="64008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onsolas"/>
              </a:rPr>
              <a:t>numpy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834640"/>
            <a:ext cx="2148840" cy="64008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onsolas"/>
              </a:rPr>
              <a:t>python-dateutil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069080"/>
            <a:ext cx="2148840" cy="64008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onsolas"/>
              </a:rPr>
              <a:t>tzdata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834640"/>
            <a:ext cx="868680" cy="640080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onsolas"/>
              </a:rPr>
              <a:t>six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154680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69080" y="1920240"/>
            <a:ext cx="457200" cy="123444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69080" y="315468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80" y="3154680"/>
            <a:ext cx="457200" cy="123444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75120" y="315468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8920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 err="1">
                <a:solidFill>
                  <a:srgbClr val="000000"/>
                </a:solidFill>
                <a:latin typeface="Consolas"/>
              </a:rPr>
              <a:t>uv</a:t>
            </a:r>
            <a:r>
              <a:rPr sz="1800" b="0" i="0" dirty="0">
                <a:solidFill>
                  <a:srgbClr val="000000"/>
                </a:solidFill>
                <a:latin typeface="Consolas"/>
              </a:rPr>
              <a:t> add pandas</a:t>
            </a:r>
            <a:r>
              <a:rPr sz="1800" b="0" i="0" dirty="0">
                <a:solidFill>
                  <a:srgbClr val="000000"/>
                </a:solidFill>
              </a:rPr>
              <a:t> actually installed </a:t>
            </a:r>
            <a:r>
              <a:rPr sz="1800" b="1" i="0" dirty="0">
                <a:solidFill>
                  <a:srgbClr val="FF0000"/>
                </a:solidFill>
              </a:rPr>
              <a:t>5 packages</a:t>
            </a:r>
            <a:r>
              <a:rPr sz="1800" b="0" i="0" dirty="0">
                <a:solidFill>
                  <a:srgbClr val="000000"/>
                </a:solidFill>
              </a:rPr>
              <a:t>: pandas + 4 it depends 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88720"/>
            <a:ext cx="3520440" cy="3840480"/>
          </a:xfrm>
          <a:prstGeom prst="roundRect">
            <a:avLst>
              <a:gd name="adj" fmla="val 389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371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0000"/>
                </a:solidFill>
              </a:rPr>
              <a:t>Now imagine…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920240"/>
            <a:ext cx="30175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dirty="0">
                <a:solidFill>
                  <a:srgbClr val="000000"/>
                </a:solidFill>
              </a:rPr>
              <a:t>Project A needs </a:t>
            </a:r>
            <a:r>
              <a:rPr sz="1800" b="1" i="0" dirty="0">
                <a:solidFill>
                  <a:srgbClr val="000000"/>
                </a:solidFill>
              </a:rPr>
              <a:t>pandas 3</a:t>
            </a:r>
          </a:p>
          <a:p>
            <a:pPr algn="l">
              <a:spcAft>
                <a:spcPts val="1000"/>
              </a:spcAft>
            </a:pPr>
            <a:r>
              <a:rPr sz="1800" b="0" i="0" dirty="0">
                <a:solidFill>
                  <a:srgbClr val="000000"/>
                </a:solidFill>
              </a:rPr>
              <a:t>Project B needs </a:t>
            </a:r>
            <a:r>
              <a:rPr sz="1800" b="1" i="0" dirty="0">
                <a:solidFill>
                  <a:srgbClr val="000000"/>
                </a:solidFill>
              </a:rPr>
              <a:t>pandas 2</a:t>
            </a:r>
          </a:p>
          <a:p>
            <a:pPr algn="l">
              <a:spcAft>
                <a:spcPts val="1000"/>
              </a:spcAft>
            </a:pPr>
            <a:r>
              <a:rPr sz="1800" b="0" i="0" dirty="0">
                <a:solidFill>
                  <a:srgbClr val="000000"/>
                </a:solidFill>
              </a:rPr>
              <a:t>Your co-author has </a:t>
            </a:r>
            <a:r>
              <a:rPr sz="1800" b="1" i="0" dirty="0">
                <a:solidFill>
                  <a:srgbClr val="000000"/>
                </a:solidFill>
              </a:rPr>
              <a:t>pandas 1</a:t>
            </a:r>
            <a:r>
              <a:rPr sz="1800" b="0" i="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74903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0000"/>
                </a:solidFill>
              </a:rPr>
              <a:t>“But it works on my machine!”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FF0000"/>
                </a:solidFill>
              </a:rPr>
              <a:t>We need a manager for this: </a:t>
            </a:r>
            <a:r>
              <a:rPr sz="2400" b="1" i="0" dirty="0" err="1">
                <a:solidFill>
                  <a:srgbClr val="FF0000"/>
                </a:solidFill>
              </a:rPr>
              <a:t>uv</a:t>
            </a:r>
            <a:r>
              <a:rPr sz="2400" b="1" i="0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7" grpId="0"/>
      <p:bldP spid="18" grpId="0" animBg="1"/>
      <p:bldP spid="19" grpId="0"/>
      <p:bldP spid="20" grpId="0"/>
      <p:bldP spid="21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914400"/>
          </a:xfrm>
        </p:spPr>
        <p:txBody>
          <a:bodyPr anchor="b"/>
          <a:lstStyle/>
          <a:p>
            <a:pPr algn="ctr"/>
            <a:r>
              <a:rPr sz="5400" b="1">
                <a:solidFill>
                  <a:srgbClr val="000000"/>
                </a:solidFill>
                <a:latin typeface="+mn-lt"/>
              </a:rPr>
              <a:t>Part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pic>
        <p:nvPicPr>
          <p:cNvPr id="6" name="Picture 5" descr="SiUv_DE5F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384" y="123444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0000"/>
                </a:solidFill>
              </a:rPr>
              <a:t>uv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1" dirty="0">
                <a:solidFill>
                  <a:srgbClr val="595959"/>
                </a:solidFill>
              </a:rPr>
              <a:t>…one tool to manage </a:t>
            </a:r>
            <a:r>
              <a:rPr lang="en-US" sz="2400" b="0" i="1" dirty="0">
                <a:solidFill>
                  <a:srgbClr val="595959"/>
                </a:solidFill>
              </a:rPr>
              <a:t>them all</a:t>
            </a:r>
            <a:endParaRPr sz="2400" b="0" i="1" dirty="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Every project needs its own kitchen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5120640" cy="3474720"/>
          </a:xfrm>
          <a:prstGeom prst="roundRect">
            <a:avLst>
              <a:gd name="adj" fmla="val 3947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Utensils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1732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20" y="13716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Project A: thesis, chapter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74519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</a:rPr>
              <a:t>a gravity model of trade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23160"/>
            <a:ext cx="457200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5603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95959"/>
                </a:solidFill>
              </a:rPr>
              <a:t>Its pantry</a:t>
            </a:r>
            <a:r>
              <a:rPr sz="1600" b="0" i="0">
                <a:solidFill>
                  <a:srgbClr val="595959"/>
                </a:solidFill>
              </a:rPr>
              <a:t> </a:t>
            </a:r>
            <a:r>
              <a:rPr sz="1600" b="0" i="0">
                <a:solidFill>
                  <a:srgbClr val="7F7F7F"/>
                </a:solidFill>
              </a:rPr>
              <a:t>(.venv)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17520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</a:rPr>
              <a:t>Python 3.13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</a:rPr>
              <a:t>pandas 3.0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</a:rPr>
              <a:t>statsmodels 0.14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188720"/>
            <a:ext cx="5120640" cy="3474720"/>
          </a:xfrm>
          <a:prstGeom prst="roundRect">
            <a:avLst>
              <a:gd name="adj" fmla="val 3947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Utensils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41732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43800" y="13716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Project B: paper with a co-author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874519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</a:rPr>
              <a:t>started in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423160"/>
            <a:ext cx="457200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8040" y="25603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95959"/>
                </a:solidFill>
              </a:rPr>
              <a:t>Its pantry</a:t>
            </a:r>
            <a:r>
              <a:rPr sz="1600" b="0" i="0">
                <a:solidFill>
                  <a:srgbClr val="595959"/>
                </a:solidFill>
              </a:rPr>
              <a:t> </a:t>
            </a:r>
            <a:r>
              <a:rPr sz="1600" b="0" i="0">
                <a:solidFill>
                  <a:srgbClr val="7F7F7F"/>
                </a:solidFill>
              </a:rPr>
              <a:t>(.venv)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017520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</a:rPr>
              <a:t>Python 3.11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</a:rPr>
              <a:t>pandas 2.1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</a:rPr>
              <a:t>matplotlib 3.8</a:t>
            </a:r>
          </a:p>
        </p:txBody>
      </p:sp>
      <p:pic>
        <p:nvPicPr>
          <p:cNvPr id="20" name="Picture 19" descr="FaBan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377440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23560" y="2971800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no mixing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9204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Each project gets a private </a:t>
            </a:r>
            <a:r>
              <a:rPr sz="2000" b="1" i="0">
                <a:solidFill>
                  <a:srgbClr val="FF0000"/>
                </a:solidFill>
              </a:rPr>
              <a:t>virtual environment</a:t>
            </a:r>
            <a:r>
              <a:rPr sz="2000" b="0" i="0">
                <a:solidFill>
                  <a:srgbClr val="000000"/>
                </a:solidFill>
              </a:rPr>
              <a:t>: a folder called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.venv</a:t>
            </a:r>
            <a:r>
              <a:rPr sz="2000" b="0" i="0">
                <a:solidFill>
                  <a:srgbClr val="000000"/>
                </a:solidFill>
              </a:rPr>
              <a:t> with its own Python and packages. Projects can't break each other.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What is uv?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pic>
        <p:nvPicPr>
          <p:cNvPr id="6" name="Picture 5" descr="SiUv_DE5F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45920"/>
            <a:ext cx="1828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749039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</a:rPr>
              <a:t>by Astral · 2024 · free</a:t>
            </a:r>
          </a:p>
          <a:p>
            <a:pPr algn="ctr"/>
            <a:r>
              <a:rPr sz="1600" b="0" i="0">
                <a:solidFill>
                  <a:srgbClr val="595959"/>
                </a:solidFill>
              </a:rPr>
              <a:t>docs.astral.sh/uv</a:t>
            </a:r>
          </a:p>
        </p:txBody>
      </p:sp>
      <p:sp>
        <p:nvSpPr>
          <p:cNvPr id="8" name="Oval 7"/>
          <p:cNvSpPr/>
          <p:nvPr/>
        </p:nvSpPr>
        <p:spPr>
          <a:xfrm>
            <a:off x="4389120" y="1188720"/>
            <a:ext cx="777240" cy="77724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Bolt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7160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0680" y="1213759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0000"/>
                </a:solidFill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625239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Written in Rust; its developers report 10–100× faster than the classic pip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286000"/>
            <a:ext cx="777240" cy="77724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Download_FF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468880"/>
            <a:ext cx="41148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40680" y="2311039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Installs Python for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722519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No separate installer from python.org needed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3383280"/>
            <a:ext cx="777240" cy="77724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BoxArchive_FF0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566160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40680" y="3408319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One environment per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819799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Creates and manages the .venv kitchen automatically</a:t>
            </a:r>
          </a:p>
        </p:txBody>
      </p:sp>
      <p:sp>
        <p:nvSpPr>
          <p:cNvPr id="20" name="Oval 19"/>
          <p:cNvSpPr/>
          <p:nvPr/>
        </p:nvSpPr>
        <p:spPr>
          <a:xfrm>
            <a:off x="4389120" y="4480559"/>
            <a:ext cx="777240" cy="77724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Lock_FF0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663440"/>
            <a:ext cx="411480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40680" y="4505599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Reproducible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4917079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Records exact versions, so your co-author gets the same setup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One tool instead of many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1920240" cy="594360"/>
          </a:xfrm>
          <a:prstGeom prst="roundRect">
            <a:avLst>
              <a:gd name="adj" fmla="val 4615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0" i="0">
                <a:solidFill>
                  <a:srgbClr val="595959"/>
                </a:solidFill>
                <a:latin typeface="Consolas"/>
              </a:rPr>
              <a:t>pip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63040"/>
            <a:ext cx="1920240" cy="594360"/>
          </a:xfrm>
          <a:prstGeom prst="roundRect">
            <a:avLst>
              <a:gd name="adj" fmla="val 4615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0" i="0">
                <a:solidFill>
                  <a:srgbClr val="595959"/>
                </a:solidFill>
                <a:latin typeface="Consolas"/>
              </a:rPr>
              <a:t>venv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920240" cy="594360"/>
          </a:xfrm>
          <a:prstGeom prst="roundRect">
            <a:avLst>
              <a:gd name="adj" fmla="val 4615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0" i="0">
                <a:solidFill>
                  <a:srgbClr val="595959"/>
                </a:solidFill>
                <a:latin typeface="Consolas"/>
              </a:rPr>
              <a:t>virtualenv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286000"/>
            <a:ext cx="1920240" cy="594360"/>
          </a:xfrm>
          <a:prstGeom prst="roundRect">
            <a:avLst>
              <a:gd name="adj" fmla="val 4615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0" i="0">
                <a:solidFill>
                  <a:srgbClr val="595959"/>
                </a:solidFill>
                <a:latin typeface="Consolas"/>
              </a:rPr>
              <a:t>pyenv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920240" cy="594360"/>
          </a:xfrm>
          <a:prstGeom prst="roundRect">
            <a:avLst>
              <a:gd name="adj" fmla="val 4615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0" i="0">
                <a:solidFill>
                  <a:srgbClr val="595959"/>
                </a:solidFill>
                <a:latin typeface="Consolas"/>
              </a:rPr>
              <a:t>pip-tools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3108960"/>
            <a:ext cx="1920240" cy="594360"/>
          </a:xfrm>
          <a:prstGeom prst="roundRect">
            <a:avLst>
              <a:gd name="adj" fmla="val 4615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0" i="0">
                <a:solidFill>
                  <a:srgbClr val="595959"/>
                </a:solidFill>
                <a:latin typeface="Consolas"/>
              </a:rPr>
              <a:t>poetry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920240" cy="594360"/>
          </a:xfrm>
          <a:prstGeom prst="roundRect">
            <a:avLst>
              <a:gd name="adj" fmla="val 4615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0" i="0">
                <a:solidFill>
                  <a:srgbClr val="595959"/>
                </a:solidFill>
                <a:latin typeface="Consolas"/>
              </a:rPr>
              <a:t>pipx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57800" y="2697480"/>
            <a:ext cx="1005840" cy="64008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75120" y="1463040"/>
            <a:ext cx="4572000" cy="30632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iUv_DE5F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37360"/>
            <a:ext cx="128016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75120" y="310896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Consolas"/>
              </a:rPr>
              <a:t>uv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595959"/>
                </a:solidFill>
              </a:rPr>
              <a:t>one tool, one set of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37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</a:rPr>
              <a:t>You will see these names in older tutorials. Today,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uv</a:t>
            </a:r>
            <a:r>
              <a:rPr sz="2000" b="0" i="0">
                <a:solidFill>
                  <a:srgbClr val="000000"/>
                </a:solidFill>
              </a:rPr>
              <a:t> covers all of them.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The uv workflow in four verbs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28016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03020" y="155448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aFolderO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421" y="1795881"/>
            <a:ext cx="523036" cy="5230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7432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262626"/>
                </a:solidFill>
              </a:rPr>
              <a:t>a new project, with its own kitchen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7F7F7F"/>
                </a:solidFill>
                <a:latin typeface="Consolas"/>
              </a:rPr>
              <a:t>uv init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4680" y="2880360"/>
            <a:ext cx="182880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83280" y="128016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183380" y="155448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BoxOpe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781" y="1795881"/>
            <a:ext cx="523036" cy="5230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66160" y="27432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</a:rPr>
              <a:t>Add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3756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262626"/>
                </a:solidFill>
              </a:rPr>
              <a:t>a package to this project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2976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7F7F7F"/>
                </a:solidFill>
                <a:latin typeface="Consolas"/>
              </a:rPr>
              <a:t>uv add pandas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5040" y="2880360"/>
            <a:ext cx="182880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63640" y="128016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063740" y="155448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CirclePla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141" y="1795881"/>
            <a:ext cx="523036" cy="5230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46520" y="27432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</a:rPr>
              <a:t>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3756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262626"/>
                </a:solidFill>
              </a:rPr>
              <a:t>your code, or JupyterLab, in the right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976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7F7F7F"/>
                </a:solidFill>
                <a:latin typeface="Consolas"/>
              </a:rPr>
              <a:t>uv run jupyter lab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2880360"/>
            <a:ext cx="182880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0" y="128016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944100" y="155448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aUser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5501" y="1795881"/>
            <a:ext cx="523036" cy="5230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26880" y="27432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</a:rPr>
              <a:t>Share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33756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262626"/>
                </a:solidFill>
              </a:rPr>
              <a:t>your co-author rebuilds the same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2976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7F7F7F"/>
                </a:solidFill>
                <a:latin typeface="Consolas"/>
              </a:rPr>
              <a:t>uv 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6636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</a:rPr>
              <a:t>Same four verbs on Windows and Mac, for every project. </a:t>
            </a:r>
            <a:r>
              <a:rPr sz="2000" b="1" i="0">
                <a:solidFill>
                  <a:srgbClr val="FF0000"/>
                </a:solidFill>
              </a:rPr>
              <a:t>We'll see them live in the demo.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What's inside a uv project?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4480560" cy="4160520"/>
          </a:xfrm>
          <a:prstGeom prst="roundRect">
            <a:avLst>
              <a:gd name="adj" fmla="val 329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02336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wti-python/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├── .venv/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├── .python-version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├── analysis.ipynb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├── main.py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├── pyproject.toml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├── uv.lock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62626"/>
                </a:solidFill>
                <a:latin typeface="Consolas"/>
              </a:rPr>
              <a:t>└── README.md</a:t>
            </a:r>
          </a:p>
        </p:txBody>
      </p:sp>
      <p:pic>
        <p:nvPicPr>
          <p:cNvPr id="8" name="Picture 7" descr="FaFileCode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32588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188720"/>
            <a:ext cx="5715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onsolas"/>
              </a:rPr>
              <a:t>analysis.ipynb</a:t>
            </a:r>
            <a:r>
              <a:rPr sz="1800" b="0" i="0">
                <a:solidFill>
                  <a:srgbClr val="000000"/>
                </a:solidFill>
              </a:rPr>
              <a:t> /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main.py</a:t>
            </a:r>
            <a:r>
              <a:rPr sz="1800" b="0" i="0">
                <a:solidFill>
                  <a:srgbClr val="000000"/>
                </a:solidFill>
              </a:rPr>
              <a:t>: </a:t>
            </a:r>
            <a:r>
              <a:rPr sz="1800" b="1" i="0">
                <a:solidFill>
                  <a:srgbClr val="000000"/>
                </a:solidFill>
              </a:rPr>
              <a:t>your code</a:t>
            </a:r>
            <a:r>
              <a:rPr sz="1800" b="0" i="0">
                <a:solidFill>
                  <a:srgbClr val="000000"/>
                </a:solidFill>
              </a:rPr>
              <a:t>, as a notebook or a script</a:t>
            </a:r>
          </a:p>
        </p:txBody>
      </p:sp>
      <p:pic>
        <p:nvPicPr>
          <p:cNvPr id="10" name="Picture 9" descr="FaList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37744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2240280"/>
            <a:ext cx="5715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onsolas"/>
              </a:rPr>
              <a:t>pyproject.toml</a:t>
            </a:r>
            <a:r>
              <a:rPr sz="1800" b="0" i="0">
                <a:solidFill>
                  <a:srgbClr val="000000"/>
                </a:solidFill>
              </a:rPr>
              <a:t>: </a:t>
            </a:r>
            <a:r>
              <a:rPr sz="1800" b="1" i="0">
                <a:solidFill>
                  <a:srgbClr val="000000"/>
                </a:solidFill>
              </a:rPr>
              <a:t>the shopping list</a:t>
            </a:r>
            <a:r>
              <a:rPr sz="1800" b="0" i="0">
                <a:solidFill>
                  <a:srgbClr val="000000"/>
                </a:solidFill>
              </a:rPr>
              <a:t>. What you asked for (“pandas”)</a:t>
            </a:r>
          </a:p>
        </p:txBody>
      </p:sp>
      <p:pic>
        <p:nvPicPr>
          <p:cNvPr id="12" name="Picture 11" descr="FaReceipt_FF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428999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3291839"/>
            <a:ext cx="5715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onsolas"/>
              </a:rPr>
              <a:t>uv.lock</a:t>
            </a:r>
            <a:r>
              <a:rPr sz="1800" b="0" i="0">
                <a:solidFill>
                  <a:srgbClr val="000000"/>
                </a:solidFill>
              </a:rPr>
              <a:t>: </a:t>
            </a:r>
            <a:r>
              <a:rPr sz="1800" b="1" i="0">
                <a:solidFill>
                  <a:srgbClr val="000000"/>
                </a:solidFill>
              </a:rPr>
              <a:t>the receipt</a:t>
            </a:r>
            <a:r>
              <a:rPr sz="1800" b="0" i="0">
                <a:solidFill>
                  <a:srgbClr val="000000"/>
                </a:solidFill>
              </a:rPr>
              <a:t>. Exactly what you got (pandas 3.0.6, numpy 2.5.3…)</a:t>
            </a:r>
          </a:p>
        </p:txBody>
      </p:sp>
      <p:pic>
        <p:nvPicPr>
          <p:cNvPr id="14" name="Picture 13" descr="FaWarehouse_FF0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448056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0" y="4343400"/>
            <a:ext cx="5715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onsolas"/>
              </a:rPr>
              <a:t>.venv/</a:t>
            </a:r>
            <a:r>
              <a:rPr sz="1800" b="0" i="0">
                <a:solidFill>
                  <a:srgbClr val="000000"/>
                </a:solidFill>
              </a:rPr>
              <a:t>: </a:t>
            </a:r>
            <a:r>
              <a:rPr sz="1800" b="1" i="0">
                <a:solidFill>
                  <a:srgbClr val="000000"/>
                </a:solidFill>
              </a:rPr>
              <a:t>the pantry</a:t>
            </a:r>
            <a:r>
              <a:rPr sz="1800" b="0" i="0">
                <a:solidFill>
                  <a:srgbClr val="000000"/>
                </a:solidFill>
              </a:rPr>
              <a:t>, where packages live. Never edit or share it: uv can rebuild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Share with co-authors: </a:t>
            </a:r>
            <a:r>
              <a:rPr sz="1800" b="1" i="0">
                <a:solidFill>
                  <a:srgbClr val="FF0000"/>
                </a:solidFill>
              </a:rPr>
              <a:t>your code + pyproject.toml + uv.lock</a:t>
            </a:r>
            <a:r>
              <a:rPr sz="1800" b="0" i="0">
                <a:solidFill>
                  <a:srgbClr val="000000"/>
                </a:solidFill>
              </a:rPr>
              <a:t>. Never the .venv folder.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914400"/>
          </a:xfrm>
        </p:spPr>
        <p:txBody>
          <a:bodyPr anchor="b"/>
          <a:lstStyle/>
          <a:p>
            <a:pPr algn="ctr"/>
            <a:r>
              <a:rPr sz="5400" b="1">
                <a:solidFill>
                  <a:srgbClr val="000000"/>
                </a:solidFill>
                <a:latin typeface="+mn-lt"/>
              </a:rPr>
              <a:t>Part 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pic>
        <p:nvPicPr>
          <p:cNvPr id="6" name="Picture 5" descr="SiJupyter_F376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384" y="123444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0000"/>
                </a:solidFill>
              </a:rPr>
              <a:t>JupyterLab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1">
                <a:solidFill>
                  <a:srgbClr val="595959"/>
                </a:solidFill>
              </a:rPr>
              <a:t>…a lab notebook for your code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A notebook: code, results and notes together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7223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722376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57400" y="1197864"/>
            <a:ext cx="17373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262626"/>
                </a:solidFill>
              </a:rPr>
              <a:t>analysis.ipynb</a:t>
            </a:r>
          </a:p>
        </p:txBody>
      </p:sp>
      <p:pic>
        <p:nvPicPr>
          <p:cNvPr id="9" name="Picture 8" descr="SiJupyter_F376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197864"/>
            <a:ext cx="256032" cy="2560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1508760"/>
            <a:ext cx="1463040" cy="42062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645920"/>
            <a:ext cx="1325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62626"/>
                </a:solidFill>
              </a:rPr>
              <a:t>wti-python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analysis.ipynb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main.py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pyproject.toml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645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Tariff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011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Quick look at three partners (made-up rates).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4871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onsolas"/>
              </a:rPr>
              <a:t>[1]: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423160"/>
            <a:ext cx="45720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2468880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onsolas"/>
              </a:rPr>
              <a:t>import pandas as pd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Consolas"/>
              </a:rPr>
              <a:t>trade = pd.read_csv("tariffs.csv")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Consolas"/>
              </a:rPr>
              <a:t>trade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172968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62626"/>
                </a:solidFill>
                <a:latin typeface="Consolas"/>
              </a:rPr>
              <a:t>     country   tariff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Consolas"/>
              </a:rPr>
              <a:t>0  Switzerland     0.02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Consolas"/>
              </a:rPr>
              <a:t>1       Brazil     0.08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Consolas"/>
              </a:rPr>
              <a:t>2        Kenya     0.12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114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onsolas"/>
              </a:rPr>
              <a:t>[2]: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4069080"/>
            <a:ext cx="4572000" cy="329184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0" y="4087368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onsolas"/>
              </a:rPr>
              <a:t>trade.plot.bar(x="country", y="tariff")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5341620"/>
            <a:ext cx="457200" cy="1447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55046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Switzerland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7639" y="4907280"/>
            <a:ext cx="457200" cy="57912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49039" y="55046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Brazil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617720"/>
            <a:ext cx="457200" cy="8686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55046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Kenya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80360" y="5486400"/>
            <a:ext cx="2834640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296912" y="1673352"/>
            <a:ext cx="329184" cy="32918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Oval 28"/>
          <p:cNvSpPr/>
          <p:nvPr/>
        </p:nvSpPr>
        <p:spPr>
          <a:xfrm>
            <a:off x="7296912" y="2587752"/>
            <a:ext cx="329184" cy="32918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7296912" y="3429000"/>
            <a:ext cx="329184" cy="32918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7296912" y="4800600"/>
            <a:ext cx="329184" cy="32918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Oval 31"/>
          <p:cNvSpPr/>
          <p:nvPr/>
        </p:nvSpPr>
        <p:spPr>
          <a:xfrm>
            <a:off x="8138160" y="123444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118872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Markdown cell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16002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your notes, headings and explanations</a:t>
            </a:r>
          </a:p>
        </p:txBody>
      </p:sp>
      <p:sp>
        <p:nvSpPr>
          <p:cNvPr id="35" name="Oval 34"/>
          <p:cNvSpPr/>
          <p:nvPr/>
        </p:nvSpPr>
        <p:spPr>
          <a:xfrm>
            <a:off x="8138160" y="233172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22860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Code cell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697479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a few lines of Python, run with </a:t>
            </a:r>
            <a:r>
              <a:rPr sz="1600" b="0" i="0">
                <a:solidFill>
                  <a:srgbClr val="595959"/>
                </a:solidFill>
                <a:latin typeface="Consolas"/>
              </a:rPr>
              <a:t>Shift+Enter</a:t>
            </a:r>
          </a:p>
        </p:txBody>
      </p:sp>
      <p:sp>
        <p:nvSpPr>
          <p:cNvPr id="38" name="Oval 37"/>
          <p:cNvSpPr/>
          <p:nvPr/>
        </p:nvSpPr>
        <p:spPr>
          <a:xfrm>
            <a:off x="8138160" y="342900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33832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79476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results appear right under the code</a:t>
            </a:r>
          </a:p>
        </p:txBody>
      </p:sp>
      <p:sp>
        <p:nvSpPr>
          <p:cNvPr id="41" name="Oval 40"/>
          <p:cNvSpPr/>
          <p:nvPr/>
        </p:nvSpPr>
        <p:spPr>
          <a:xfrm>
            <a:off x="8138160" y="4526279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4480559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Charts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8920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plots live inside the document too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Why notebooks for research?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02920" y="1234440"/>
            <a:ext cx="868680" cy="86868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ListOl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453896"/>
            <a:ext cx="429768" cy="429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121615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Step by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1848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Run one small piece at a time and check it before moving on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1234440"/>
            <a:ext cx="868680" cy="86868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Eye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1453896"/>
            <a:ext cx="429768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121615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Instant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61848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See tables and numbers the moment you run a cell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1234440"/>
            <a:ext cx="868680" cy="86868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PenToSquare_FF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1453896"/>
            <a:ext cx="429768" cy="429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35440" y="121615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Notes next to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61848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Explain your reasoning, like in a lab notebook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017520"/>
            <a:ext cx="868680" cy="86868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ChartColumn_FF0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3236976"/>
            <a:ext cx="429768" cy="4297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54480" y="299923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Charts inline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40156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Figures appear right where you made them</a:t>
            </a:r>
          </a:p>
        </p:txBody>
      </p:sp>
      <p:sp>
        <p:nvSpPr>
          <p:cNvPr id="22" name="Oval 21"/>
          <p:cNvSpPr/>
          <p:nvPr/>
        </p:nvSpPr>
        <p:spPr>
          <a:xfrm>
            <a:off x="4343400" y="3017520"/>
            <a:ext cx="868680" cy="86868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ShareNodes_FF0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2856" y="3236976"/>
            <a:ext cx="429768" cy="4297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94960" y="299923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One file to share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40156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An .ipynb file keeps code, results and notes together</a:t>
            </a:r>
          </a:p>
        </p:txBody>
      </p:sp>
      <p:sp>
        <p:nvSpPr>
          <p:cNvPr id="26" name="Oval 25"/>
          <p:cNvSpPr/>
          <p:nvPr/>
        </p:nvSpPr>
        <p:spPr>
          <a:xfrm>
            <a:off x="8183880" y="3017520"/>
            <a:ext cx="868680" cy="868680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aUsers_FF000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3336" y="3236976"/>
            <a:ext cx="429768" cy="429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35440" y="299923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Standard in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40156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Widely used in data science, economics and teaching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754880"/>
            <a:ext cx="11247120" cy="96012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TriangleExclamation_FF000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983480"/>
            <a:ext cx="50292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08760" y="4754880"/>
            <a:ext cx="10058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</a:rPr>
              <a:t>Watch out:</a:t>
            </a:r>
            <a:r>
              <a:rPr sz="1600" b="0" i="0">
                <a:solidFill>
                  <a:srgbClr val="000000"/>
                </a:solidFill>
              </a:rPr>
              <a:t> cells can be run in any order, so a notebook can show results that no longer match its code. Before trusting results: </a:t>
            </a:r>
            <a:r>
              <a:rPr sz="1600" b="1" i="0">
                <a:solidFill>
                  <a:srgbClr val="FF0000"/>
                </a:solidFill>
              </a:rPr>
              <a:t>Restart the kernel and run all cells.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JupyterLab is just another package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48740" y="1417320"/>
            <a:ext cx="914400" cy="9144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aBoxO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196" y="1636776"/>
            <a:ext cx="475488" cy="475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4688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</a:rPr>
              <a:t>Install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</a:rPr>
              <a:t>a package, added to your project like 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7F7F7F"/>
                </a:solidFill>
                <a:latin typeface="Consolas"/>
              </a:rPr>
              <a:t>uv add jupyterlab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4680" y="2560320"/>
            <a:ext cx="182880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83280" y="118872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29100" y="1417320"/>
            <a:ext cx="914400" cy="9144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Termina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556" y="1636776"/>
            <a:ext cx="475488" cy="475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20440" y="24688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</a:rPr>
              <a:t>Launch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92608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</a:rPr>
              <a:t>from the terminal, inside your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49039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7F7F7F"/>
                </a:solidFill>
                <a:latin typeface="Consolas"/>
              </a:rPr>
              <a:t>uv run jupyter lab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5040" y="2560320"/>
            <a:ext cx="182880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63640" y="118872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09459" y="1417320"/>
            <a:ext cx="914400" cy="9144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WindowMaximiz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915" y="1636776"/>
            <a:ext cx="475488" cy="475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24688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</a:rPr>
              <a:t>Your browser opens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2608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</a:rPr>
              <a:t>but everything runs locally, on your laptop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39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7F7F7F"/>
                </a:solidFill>
                <a:latin typeface="Consolas"/>
              </a:rPr>
              <a:t>localhost:8888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2560320"/>
            <a:ext cx="182880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0" y="118872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989820" y="1417320"/>
            <a:ext cx="914400" cy="9144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aGea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9276" y="1636776"/>
            <a:ext cx="475488" cy="4754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81160" y="24688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</a:rPr>
              <a:t>The kernel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92608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</a:rPr>
              <a:t>the Python engine behind it, from your .venv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749039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7F7F7F"/>
                </a:solidFill>
                <a:latin typeface="Consolas"/>
              </a:rPr>
              <a:t>Python 3 (.venv)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3891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</a:rPr>
              <a:t>Remember the dependency tree? JupyterLab brings </a:t>
            </a:r>
            <a:r>
              <a:rPr sz="2000" b="1" i="0">
                <a:solidFill>
                  <a:srgbClr val="FF0000"/>
                </a:solidFill>
              </a:rPr>
              <a:t>~90 packages</a:t>
            </a:r>
            <a:r>
              <a:rPr sz="2000" b="0" i="0">
                <a:solidFill>
                  <a:srgbClr val="000000"/>
                </a:solidFill>
              </a:rPr>
              <a:t> with it, and uv handles all of them.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983480"/>
            <a:ext cx="11247120" cy="731520"/>
          </a:xfrm>
          <a:prstGeom prst="roundRect">
            <a:avLst>
              <a:gd name="adj" fmla="val 1874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9834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</a:rPr>
              <a:t>The Jupyter family:</a:t>
            </a:r>
            <a:r>
              <a:rPr sz="1700" b="0" i="0">
                <a:solidFill>
                  <a:srgbClr val="000000"/>
                </a:solidFill>
              </a:rPr>
              <a:t>  Jupyter Notebook </a:t>
            </a:r>
            <a:r>
              <a:rPr sz="1700" b="0" i="0">
                <a:solidFill>
                  <a:srgbClr val="7F7F7F"/>
                </a:solidFill>
              </a:rPr>
              <a:t>(classic, simpler)</a:t>
            </a:r>
            <a:r>
              <a:rPr sz="1700" b="0" i="0">
                <a:solidFill>
                  <a:srgbClr val="000000"/>
                </a:solidFill>
              </a:rPr>
              <a:t>  ·  </a:t>
            </a:r>
            <a:r>
              <a:rPr sz="1700" b="1" i="0">
                <a:solidFill>
                  <a:srgbClr val="000000"/>
                </a:solidFill>
              </a:rPr>
              <a:t>JupyterLab</a:t>
            </a:r>
            <a:r>
              <a:rPr sz="1700" b="0" i="0">
                <a:solidFill>
                  <a:srgbClr val="000000"/>
                </a:solidFill>
              </a:rPr>
              <a:t> </a:t>
            </a:r>
            <a:r>
              <a:rPr sz="1700" b="0" i="0">
                <a:solidFill>
                  <a:srgbClr val="7F7F7F"/>
                </a:solidFill>
              </a:rPr>
              <a:t>(what we use)</a:t>
            </a:r>
            <a:r>
              <a:rPr sz="1700" b="0" i="0">
                <a:solidFill>
                  <a:srgbClr val="000000"/>
                </a:solidFill>
              </a:rPr>
              <a:t>  ·  Google Colab </a:t>
            </a:r>
            <a:r>
              <a:rPr sz="1700" b="0" i="0">
                <a:solidFill>
                  <a:srgbClr val="7F7F7F"/>
                </a:solidFill>
              </a:rPr>
              <a:t>(in the cloud)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914400"/>
          </a:xfrm>
        </p:spPr>
        <p:txBody>
          <a:bodyPr anchor="b"/>
          <a:lstStyle/>
          <a:p>
            <a:pPr algn="ctr"/>
            <a:r>
              <a:rPr sz="5400" b="1">
                <a:solidFill>
                  <a:srgbClr val="000000"/>
                </a:solidFill>
                <a:latin typeface="+mn-lt"/>
              </a:rPr>
              <a:t>Live demo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pic>
        <p:nvPicPr>
          <p:cNvPr id="6" name="Picture 5" descr="FaLaptop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384" y="123444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0000"/>
                </a:solidFill>
              </a:rPr>
              <a:t>Build your toolbox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What we'll do together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37259" y="13716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61" y="1613001"/>
            <a:ext cx="523036" cy="523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5146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83464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</a:rPr>
              <a:t>Open a terminal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98548" y="1709928"/>
            <a:ext cx="457200" cy="3291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811780" y="13716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iUv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181" y="1613001"/>
            <a:ext cx="523036" cy="5230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46020" y="25146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6020" y="283464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</a:rPr>
              <a:t>Install uv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3068" y="1709928"/>
            <a:ext cx="457200" cy="3291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86300" y="13716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FolderOpe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701" y="1613001"/>
            <a:ext cx="523036" cy="5230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20540" y="25146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540" y="283464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</a:rPr>
              <a:t>Create a project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47588" y="1709928"/>
            <a:ext cx="457200" cy="3291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60820" y="13716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BoxOpe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2221" y="1613001"/>
            <a:ext cx="523036" cy="5230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95059" y="25146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5059" y="283464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</a:rPr>
              <a:t>Add pandas &amp; JupyterLab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22108" y="1709928"/>
            <a:ext cx="457200" cy="3291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35339" y="13716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iJupyt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6741" y="1613001"/>
            <a:ext cx="523036" cy="5230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69579" y="25146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9579" y="283464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</a:rPr>
              <a:t>Launch JupyterLab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96628" y="1709928"/>
            <a:ext cx="457200" cy="3291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309859" y="1371600"/>
            <a:ext cx="1005840" cy="100584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aCirclePlay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1261" y="1613001"/>
            <a:ext cx="523036" cy="5230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44100" y="25146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0000"/>
                </a:solidFill>
              </a:rP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4100" y="283464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</a:rPr>
              <a:t>Run your first cell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11480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Hand_FF000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4526280"/>
            <a:ext cx="548640" cy="5486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600200" y="411480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Stuck?</a:t>
            </a:r>
            <a:r>
              <a:rPr sz="1800" b="0" i="0">
                <a:solidFill>
                  <a:srgbClr val="000000"/>
                </a:solidFill>
              </a:rPr>
              <a:t> Raise your hand, we'll come to you. Error messages are clues, not failures.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11480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FaUsers_FF000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79" y="4526280"/>
            <a:ext cx="548640" cy="5486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360919" y="411480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Done early?</a:t>
            </a:r>
            <a:r>
              <a:rPr sz="1800" b="0" i="0">
                <a:solidFill>
                  <a:srgbClr val="000000"/>
                </a:solidFill>
              </a:rPr>
              <a:t> Help your neighbour. Then change a number in a cell and run it again.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914400"/>
          </a:xfrm>
        </p:spPr>
        <p:txBody>
          <a:bodyPr anchor="b"/>
          <a:lstStyle/>
          <a:p>
            <a:pPr algn="ctr"/>
            <a:r>
              <a:rPr sz="5400" b="1">
                <a:solidFill>
                  <a:srgbClr val="000000"/>
                </a:solidFill>
                <a:latin typeface="+mn-lt"/>
              </a:rPr>
              <a:t>Outlook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pic>
        <p:nvPicPr>
          <p:cNvPr id="6" name="Picture 5" descr="VscVscode_007A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384" y="123444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0000"/>
                </a:solidFill>
              </a:rPr>
              <a:t>VS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1">
                <a:solidFill>
                  <a:srgbClr val="595959"/>
                </a:solidFill>
              </a:rPr>
              <a:t>…what most people actually use today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VS Code: like Word, but for code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7223760" cy="32004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4D4D4"/>
                </a:solidFill>
              </a:rPr>
              <a:t>main.py — wti-python — Visual Studio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457200" cy="42519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FolderO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00200"/>
            <a:ext cx="274320" cy="274320"/>
          </a:xfrm>
          <a:prstGeom prst="rect">
            <a:avLst/>
          </a:prstGeom>
        </p:spPr>
      </p:pic>
      <p:pic>
        <p:nvPicPr>
          <p:cNvPr id="10" name="Picture 9" descr="FaCod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57400"/>
            <a:ext cx="274320" cy="274320"/>
          </a:xfrm>
          <a:prstGeom prst="rect">
            <a:avLst/>
          </a:prstGeom>
        </p:spPr>
      </p:pic>
      <p:pic>
        <p:nvPicPr>
          <p:cNvPr id="11" name="Picture 10" descr="FaPuzzlePiec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" y="2483006"/>
            <a:ext cx="274320" cy="274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60120" y="1463040"/>
            <a:ext cx="1737360" cy="4251960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1600200"/>
            <a:ext cx="15544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EXPLORER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▾ WTI-PYTHON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.venv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main.py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pyproject.toml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uv.lock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463040"/>
            <a:ext cx="5029200" cy="2743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1691640"/>
            <a:ext cx="44805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586C0"/>
                </a:solidFill>
                <a:latin typeface="Consolas"/>
              </a:rPr>
              <a:t>import </a:t>
            </a:r>
            <a:r>
              <a:rPr sz="1600" b="0">
                <a:solidFill>
                  <a:srgbClr val="4EC9B0"/>
                </a:solidFill>
                <a:latin typeface="Consolas"/>
              </a:rPr>
              <a:t>pandas </a:t>
            </a:r>
            <a:r>
              <a:rPr sz="1600" b="0">
                <a:solidFill>
                  <a:srgbClr val="C586C0"/>
                </a:solidFill>
                <a:latin typeface="Consolas"/>
              </a:rPr>
              <a:t>as </a:t>
            </a:r>
            <a:r>
              <a:rPr sz="1600" b="0">
                <a:solidFill>
                  <a:srgbClr val="4EC9B0"/>
                </a:solidFill>
                <a:latin typeface="Consolas"/>
              </a:rPr>
              <a:t>pd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CDCAA"/>
                </a:solidFill>
                <a:latin typeface="Consolas"/>
              </a:rPr>
              <a:t>print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CE9178"/>
                </a:solidFill>
                <a:latin typeface="Consolas"/>
              </a:rPr>
              <a:t>"Hello, WTI!"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4206240"/>
            <a:ext cx="5029200" cy="150876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4343400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7F7F7F"/>
                </a:solidFill>
                <a:latin typeface="Consolas"/>
              </a:rPr>
              <a:t>TERMINAL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&gt; uv run main.py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Hello, WTI!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0" y="1554480"/>
            <a:ext cx="347472" cy="34747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0" y="1600200"/>
            <a:ext cx="347472" cy="34747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0" y="4343400"/>
            <a:ext cx="347472" cy="34747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" y="2483006"/>
            <a:ext cx="347472" cy="34747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8138160" y="123444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18872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6002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the files of your project</a:t>
            </a:r>
          </a:p>
        </p:txBody>
      </p:sp>
      <p:sp>
        <p:nvSpPr>
          <p:cNvPr id="25" name="Oval 24"/>
          <p:cNvSpPr/>
          <p:nvPr/>
        </p:nvSpPr>
        <p:spPr>
          <a:xfrm>
            <a:off x="8138160" y="233172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2860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Editor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697479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where you write code</a:t>
            </a:r>
          </a:p>
        </p:txBody>
      </p:sp>
      <p:sp>
        <p:nvSpPr>
          <p:cNvPr id="28" name="Oval 27"/>
          <p:cNvSpPr/>
          <p:nvPr/>
        </p:nvSpPr>
        <p:spPr>
          <a:xfrm>
            <a:off x="8138160" y="3429000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3832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37947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where you type commands like </a:t>
            </a:r>
            <a:r>
              <a:rPr sz="1600" b="0" i="0">
                <a:solidFill>
                  <a:srgbClr val="595959"/>
                </a:solidFill>
                <a:latin typeface="Consolas"/>
              </a:rPr>
              <a:t>uv</a:t>
            </a:r>
          </a:p>
        </p:txBody>
      </p:sp>
      <p:sp>
        <p:nvSpPr>
          <p:cNvPr id="31" name="Oval 30"/>
          <p:cNvSpPr/>
          <p:nvPr/>
        </p:nvSpPr>
        <p:spPr>
          <a:xfrm>
            <a:off x="8138160" y="4526279"/>
            <a:ext cx="411480" cy="41148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480559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Extensions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8920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add-ons: Python, Jupyter…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JupyterLab or VS Code?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5486400" cy="3611880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iJupyter_F376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41732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13716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</a:rPr>
              <a:t>JupyterLab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105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</a:rPr>
              <a:t>great for exploring</a:t>
            </a:r>
          </a:p>
        </p:txBody>
      </p:sp>
      <p:pic>
        <p:nvPicPr>
          <p:cNvPr id="10" name="Picture 9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578608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5880" y="25146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Analysing data step by step</a:t>
            </a:r>
          </a:p>
        </p:txBody>
      </p:sp>
      <p:pic>
        <p:nvPicPr>
          <p:cNvPr id="12" name="Picture 11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2724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5880" y="306324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Learning and teaching</a:t>
            </a:r>
          </a:p>
        </p:txBody>
      </p:sp>
      <p:pic>
        <p:nvPicPr>
          <p:cNvPr id="14" name="Picture 13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75888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880" y="36118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Analysis, charts and notes in one file</a:t>
            </a:r>
          </a:p>
        </p:txBody>
      </p:sp>
      <p:pic>
        <p:nvPicPr>
          <p:cNvPr id="16" name="Picture 15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24528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25880" y="41605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Runs in the browser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188720"/>
            <a:ext cx="5486400" cy="3611880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VscVscode_007A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79" y="1417320"/>
            <a:ext cx="685800" cy="685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98079" y="13716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</a:rPr>
              <a:t>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8105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</a:rPr>
              <a:t>great for building</a:t>
            </a:r>
          </a:p>
        </p:txBody>
      </p:sp>
      <p:pic>
        <p:nvPicPr>
          <p:cNvPr id="22" name="Picture 21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578608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86600" y="25146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Bigger projects with many files</a:t>
            </a:r>
          </a:p>
        </p:txBody>
      </p:sp>
      <p:pic>
        <p:nvPicPr>
          <p:cNvPr id="24" name="Picture 23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12724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6600" y="306324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The most popular editor among developers</a:t>
            </a:r>
          </a:p>
        </p:txBody>
      </p:sp>
      <p:pic>
        <p:nvPicPr>
          <p:cNvPr id="26" name="Picture 25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675888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86600" y="36118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Extensions: Git, AI assistants, debugging…</a:t>
            </a:r>
          </a:p>
        </p:txBody>
      </p:sp>
      <p:pic>
        <p:nvPicPr>
          <p:cNvPr id="28" name="Picture 27" descr="FaCheck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2452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86600" y="41605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Opens your Jupyter notebooks too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292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</a:rPr>
              <a:t>Not either/or: explore in a notebook, move stable code into scripts. </a:t>
            </a:r>
            <a:r>
              <a:rPr sz="2000" b="1" i="0">
                <a:solidFill>
                  <a:srgbClr val="FF0000"/>
                </a:solidFill>
              </a:rPr>
              <a:t>For this course: JupyterLab.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Recap: your toolbox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234440"/>
            <a:ext cx="2606040" cy="361188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iPython_3776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" y="155448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7432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0000"/>
                </a:solidFill>
              </a:rPr>
              <a:t>the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95959"/>
                </a:solidFill>
              </a:rPr>
              <a:t>writes the recipes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234440"/>
            <a:ext cx="2606040" cy="361188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BoxOpen_FF0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3380" y="1554480"/>
            <a:ext cx="100584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66160" y="27432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</a:rPr>
              <a:t>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9184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0000"/>
                </a:solidFill>
              </a:rPr>
              <a:t>ready-made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49039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95959"/>
                </a:solidFill>
              </a:rPr>
              <a:t>the apps on your phone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34440"/>
            <a:ext cx="2606040" cy="361188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iUv_DE5F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1554480"/>
            <a:ext cx="1005840" cy="1005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46520" y="27432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</a:rPr>
              <a:t>uv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9184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0000"/>
                </a:solidFill>
              </a:rPr>
              <a:t>the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39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95959"/>
                </a:solidFill>
              </a:rPr>
              <a:t>keeps each project's kitchen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234440"/>
            <a:ext cx="2606040" cy="361188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iJupyter_F376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100" y="1554480"/>
            <a:ext cx="1005840" cy="10058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26880" y="274320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</a:rPr>
              <a:t>JupyterLab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29184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0000"/>
                </a:solidFill>
              </a:rPr>
              <a:t>the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749039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95959"/>
                </a:solidFill>
              </a:rPr>
              <a:t>your lab notebook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206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</a:rPr>
              <a:t>Python + packages, managed by uv, explored in JupyterLab.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" y="153619"/>
            <a:ext cx="10515600" cy="662940"/>
          </a:xfrm>
        </p:spPr>
        <p:txBody>
          <a:bodyPr/>
          <a:lstStyle/>
          <a:p>
            <a:pPr algn="l"/>
            <a:r>
              <a:rPr sz="4000" b="1">
                <a:solidFill>
                  <a:srgbClr val="000000"/>
                </a:solidFill>
                <a:latin typeface="+mn-lt"/>
              </a:rPr>
              <a:t>Before next time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88720"/>
            <a:ext cx="5486400" cy="4480560"/>
          </a:xfrm>
          <a:prstGeom prst="roundRect">
            <a:avLst>
              <a:gd name="adj" fmla="val 30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Checklist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347472" cy="347472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01168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dirty="0" err="1">
                <a:solidFill>
                  <a:srgbClr val="000000"/>
                </a:solidFill>
                <a:latin typeface="Consolas"/>
              </a:rPr>
              <a:t>uv</a:t>
            </a:r>
            <a:r>
              <a:rPr sz="1800" b="0" i="0" dirty="0">
                <a:solidFill>
                  <a:srgbClr val="000000"/>
                </a:solidFill>
                <a:latin typeface="Consolas"/>
              </a:rPr>
              <a:t> --version</a:t>
            </a:r>
            <a:r>
              <a:rPr sz="1800" b="0" i="0" dirty="0">
                <a:solidFill>
                  <a:srgbClr val="000000"/>
                </a:solidFill>
              </a:rPr>
              <a:t> prints a 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17520"/>
            <a:ext cx="347472" cy="347472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308476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dirty="0" err="1">
                <a:solidFill>
                  <a:srgbClr val="000000"/>
                </a:solidFill>
                <a:latin typeface="Consolas"/>
              </a:rPr>
              <a:t>uv</a:t>
            </a:r>
            <a:r>
              <a:rPr sz="1800" b="0" dirty="0">
                <a:solidFill>
                  <a:srgbClr val="000000"/>
                </a:solidFill>
                <a:latin typeface="Consolas"/>
              </a:rPr>
              <a:t> run </a:t>
            </a:r>
            <a:r>
              <a:rPr sz="1800" b="0" dirty="0" err="1">
                <a:solidFill>
                  <a:srgbClr val="000000"/>
                </a:solidFill>
                <a:latin typeface="Consolas"/>
              </a:rPr>
              <a:t>jupyter</a:t>
            </a:r>
            <a:r>
              <a:rPr sz="1800" b="0" dirty="0">
                <a:solidFill>
                  <a:srgbClr val="000000"/>
                </a:solidFill>
                <a:latin typeface="Consolas"/>
              </a:rPr>
              <a:t> lab</a:t>
            </a:r>
            <a:r>
              <a:rPr sz="1800" b="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sz="1800" b="0" i="0" dirty="0">
                <a:solidFill>
                  <a:srgbClr val="000000"/>
                </a:solidFill>
              </a:rPr>
              <a:t>opens </a:t>
            </a:r>
            <a:r>
              <a:rPr sz="1800" b="0" i="0" dirty="0" err="1">
                <a:solidFill>
                  <a:srgbClr val="000000"/>
                </a:solidFill>
              </a:rPr>
              <a:t>JupyterLab</a:t>
            </a:r>
            <a:endParaRPr sz="1800" b="0" i="0" dirty="0">
              <a:solidFill>
                <a:srgbClr val="00000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886200"/>
            <a:ext cx="347472" cy="347472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74904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Your first notebook runs from top to bottom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54879"/>
            <a:ext cx="347472" cy="347472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61772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</a:rPr>
              <a:t>Try </a:t>
            </a:r>
            <a:r>
              <a:rPr sz="1800" b="0" i="0" dirty="0" err="1">
                <a:solidFill>
                  <a:srgbClr val="000000"/>
                </a:solidFill>
                <a:latin typeface="Consolas"/>
              </a:rPr>
              <a:t>uv</a:t>
            </a:r>
            <a:r>
              <a:rPr sz="1800" b="0" i="0" dirty="0">
                <a:solidFill>
                  <a:srgbClr val="000000"/>
                </a:solidFill>
                <a:latin typeface="Consolas"/>
              </a:rPr>
              <a:t> add matplotlib</a:t>
            </a:r>
            <a:r>
              <a:rPr sz="1800" b="0" i="0" dirty="0">
                <a:solidFill>
                  <a:srgbClr val="000000"/>
                </a:solidFill>
              </a:rPr>
              <a:t>: what changed in </a:t>
            </a:r>
            <a:r>
              <a:rPr sz="1800" b="0" i="0" dirty="0" err="1">
                <a:solidFill>
                  <a:srgbClr val="000000"/>
                </a:solidFill>
                <a:latin typeface="Consolas"/>
              </a:rPr>
              <a:t>pyproject.toml</a:t>
            </a:r>
            <a:r>
              <a:rPr sz="1800" b="0" i="0" dirty="0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Want more?</a:t>
            </a:r>
            <a:r>
              <a:rPr sz="2200" b="0" i="0">
                <a:solidFill>
                  <a:srgbClr val="000000"/>
                </a:solidFill>
              </a:rPr>
              <a:t> </a:t>
            </a:r>
            <a:r>
              <a:rPr sz="2200" b="0" i="0">
                <a:solidFill>
                  <a:srgbClr val="7F7F7F"/>
                </a:solidFill>
              </a:rPr>
              <a:t>(optional)</a:t>
            </a:r>
          </a:p>
        </p:txBody>
      </p:sp>
      <p:pic>
        <p:nvPicPr>
          <p:cNvPr id="17" name="Picture 16" descr="FaBook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30552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9440" y="201168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The Python Tutorial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7744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docs.python.org/3/tutorial</a:t>
            </a:r>
          </a:p>
        </p:txBody>
      </p:sp>
      <p:pic>
        <p:nvPicPr>
          <p:cNvPr id="20" name="Picture 19" descr="FaBook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99232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49440" y="288036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uv: Getting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461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docs.astral.sh/uv</a:t>
            </a:r>
          </a:p>
        </p:txBody>
      </p:sp>
      <p:pic>
        <p:nvPicPr>
          <p:cNvPr id="23" name="Picture 22" descr="FaBook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867912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9440" y="374904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JupyterLab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jupyterlab.readthedocs.io</a:t>
            </a:r>
          </a:p>
        </p:txBody>
      </p:sp>
      <p:pic>
        <p:nvPicPr>
          <p:cNvPr id="26" name="Picture 25" descr="FaBook_FF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736592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49440" y="46177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Automate the Boring Stuff with 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983479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automatetheboringstuff.com (free book)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03120"/>
            <a:ext cx="10515600" cy="1097280"/>
          </a:xfrm>
        </p:spPr>
        <p:txBody>
          <a:bodyPr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+mn-lt"/>
              </a:rPr>
              <a:t>Questions?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6816" y="816872"/>
            <a:ext cx="1167038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88491" y="6326906"/>
            <a:ext cx="574765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ub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87" y="40777"/>
            <a:ext cx="678613" cy="718532"/>
          </a:xfrm>
          <a:prstGeom prst="rect">
            <a:avLst/>
          </a:prstGeom>
        </p:spPr>
      </p:pic>
      <p:pic>
        <p:nvPicPr>
          <p:cNvPr id="6" name="Picture 5" descr="SiPython_3776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704" y="3657600"/>
            <a:ext cx="731520" cy="731520"/>
          </a:xfrm>
          <a:prstGeom prst="rect">
            <a:avLst/>
          </a:prstGeom>
        </p:spPr>
      </p:pic>
      <p:pic>
        <p:nvPicPr>
          <p:cNvPr id="7" name="Picture 6" descr="SiUv_DE5F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984" y="3657600"/>
            <a:ext cx="731520" cy="731520"/>
          </a:xfrm>
          <a:prstGeom prst="rect">
            <a:avLst/>
          </a:prstGeom>
        </p:spPr>
      </p:pic>
      <p:pic>
        <p:nvPicPr>
          <p:cNvPr id="8" name="Picture 7" descr="SiJupyter_F376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264" y="3657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2466</Words>
  <Application>Microsoft Office PowerPoint</Application>
  <PresentationFormat>Widescreen</PresentationFormat>
  <Paragraphs>470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Consolas</vt:lpstr>
      <vt:lpstr>Office Theme</vt:lpstr>
      <vt:lpstr>Introduction to Python</vt:lpstr>
      <vt:lpstr>Quick poll: raise your hand if…</vt:lpstr>
      <vt:lpstr>Why should a trade researcher code?</vt:lpstr>
      <vt:lpstr>“But AI can write the code for me…”</vt:lpstr>
      <vt:lpstr>Today’s plan (1 h 45)</vt:lpstr>
      <vt:lpstr>Part 1</vt:lpstr>
      <vt:lpstr>A program is a recipe</vt:lpstr>
      <vt:lpstr>Python reads (almost) like English</vt:lpstr>
      <vt:lpstr>Meet Python</vt:lpstr>
      <vt:lpstr>What can Python do for your PhD?</vt:lpstr>
      <vt:lpstr>Myth vs. Fact</vt:lpstr>
      <vt:lpstr>Part 2</vt:lpstr>
      <vt:lpstr>Python is a phone. Packages are apps.</vt:lpstr>
      <vt:lpstr>Module, package, library: what's the difference?</vt:lpstr>
      <vt:lpstr>Popular packages for researchers</vt:lpstr>
      <vt:lpstr>Using a package: install once, import every time</vt:lpstr>
      <vt:lpstr>Using a package: install once, import every time</vt:lpstr>
      <vt:lpstr>The catch: packages need other packages</vt:lpstr>
      <vt:lpstr>Part 3</vt:lpstr>
      <vt:lpstr>Every project needs its own kitchen</vt:lpstr>
      <vt:lpstr>What is uv?</vt:lpstr>
      <vt:lpstr>One tool instead of many</vt:lpstr>
      <vt:lpstr>The uv workflow in four verbs</vt:lpstr>
      <vt:lpstr>What's inside a uv project?</vt:lpstr>
      <vt:lpstr>Part 4</vt:lpstr>
      <vt:lpstr>A notebook: code, results and notes together</vt:lpstr>
      <vt:lpstr>Why notebooks for research?</vt:lpstr>
      <vt:lpstr>JupyterLab is just another package</vt:lpstr>
      <vt:lpstr>Live demo</vt:lpstr>
      <vt:lpstr>What we'll do together</vt:lpstr>
      <vt:lpstr>Outlook</vt:lpstr>
      <vt:lpstr>VS Code: like Word, but for code</vt:lpstr>
      <vt:lpstr>JupyterLab or VS Code?</vt:lpstr>
      <vt:lpstr>Recap: your toolbox</vt:lpstr>
      <vt:lpstr>Before next time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Evaluation of Multi-View Stereo 3D Reconstruction Techniques on Specialized Dataset</dc:title>
  <dc:creator>Matteo Boi</dc:creator>
  <cp:lastModifiedBy>Boi, Matteo (DSL)</cp:lastModifiedBy>
  <cp:revision>60</cp:revision>
  <dcterms:created xsi:type="dcterms:W3CDTF">2024-03-23T10:38:24Z</dcterms:created>
  <dcterms:modified xsi:type="dcterms:W3CDTF">2026-09-30T09:49:41Z</dcterms:modified>
</cp:coreProperties>
</file>